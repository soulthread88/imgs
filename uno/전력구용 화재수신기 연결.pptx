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93" r:id="rId2"/>
    <p:sldId id="259" r:id="rId3"/>
    <p:sldId id="331" r:id="rId4"/>
    <p:sldId id="322" r:id="rId5"/>
    <p:sldId id="332" r:id="rId6"/>
    <p:sldId id="461" r:id="rId7"/>
    <p:sldId id="460" r:id="rId8"/>
    <p:sldId id="462" r:id="rId9"/>
    <p:sldId id="323" r:id="rId10"/>
    <p:sldId id="324" r:id="rId11"/>
    <p:sldId id="297" r:id="rId12"/>
  </p:sldIdLst>
  <p:sldSz cx="9144000" cy="6858000" type="screen4x3"/>
  <p:notesSz cx="6889750" cy="10021888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BA9"/>
    <a:srgbClr val="0F3A55"/>
    <a:srgbClr val="06266B"/>
    <a:srgbClr val="EE6F10"/>
    <a:srgbClr val="7C2A3B"/>
    <a:srgbClr val="3F6603"/>
    <a:srgbClr val="F07E28"/>
    <a:srgbClr val="070805"/>
    <a:srgbClr val="F6B100"/>
    <a:srgbClr val="D845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792" autoAdjust="0"/>
  </p:normalViewPr>
  <p:slideViewPr>
    <p:cSldViewPr>
      <p:cViewPr varScale="1">
        <p:scale>
          <a:sx n="107" d="100"/>
          <a:sy n="107" d="100"/>
        </p:scale>
        <p:origin x="19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78"/>
      </p:cViewPr>
      <p:guideLst>
        <p:guide orient="horz" pos="3157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/>
          <a:lstStyle>
            <a:lvl1pPr algn="r">
              <a:defRPr sz="1300"/>
            </a:lvl1pPr>
          </a:lstStyle>
          <a:p>
            <a:fld id="{D4CCFBE2-2B8D-499C-81C9-2CD5B3EB8E93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19054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597" y="9519054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 anchor="b"/>
          <a:lstStyle>
            <a:lvl1pPr algn="r">
              <a:defRPr sz="13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/>
          <a:lstStyle>
            <a:lvl1pPr algn="r">
              <a:defRPr sz="1300"/>
            </a:lvl1pPr>
          </a:lstStyle>
          <a:p>
            <a:fld id="{FB545AC5-813F-4ED1-B011-8EA17CB93331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332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9" tIns="48315" rIns="96629" bIns="483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760397"/>
            <a:ext cx="5511800" cy="4509850"/>
          </a:xfrm>
          <a:prstGeom prst="rect">
            <a:avLst/>
          </a:prstGeom>
        </p:spPr>
        <p:txBody>
          <a:bodyPr vert="horz" lIns="96629" tIns="48315" rIns="96629" bIns="48315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4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519054"/>
            <a:ext cx="2985559" cy="501095"/>
          </a:xfrm>
          <a:prstGeom prst="rect">
            <a:avLst/>
          </a:prstGeom>
        </p:spPr>
        <p:txBody>
          <a:bodyPr vert="horz" lIns="96629" tIns="48315" rIns="96629" bIns="48315" rtlCol="0" anchor="b"/>
          <a:lstStyle>
            <a:lvl1pPr algn="r">
              <a:defRPr sz="13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955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18872" y="3218489"/>
            <a:ext cx="5184576" cy="42653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en-US" altLang="ko-KR" sz="1800" kern="1200" baseline="0" dirty="0" smtClean="0">
                <a:solidFill>
                  <a:srgbClr val="337BA9"/>
                </a:solidFill>
                <a:latin typeface="Noto Sans" pitchFamily="34" charset="0"/>
                <a:ea typeface="맑은 고딕" pitchFamily="50" charset="-127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altLang="ko-KR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318872" y="1848650"/>
            <a:ext cx="4507119" cy="144121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en-US" altLang="ko-KR" sz="4300" kern="1200" baseline="0" dirty="0">
                <a:solidFill>
                  <a:srgbClr val="0F3A55"/>
                </a:solidFill>
                <a:effectLst/>
                <a:latin typeface="Noto Sans" pitchFamily="34" charset="0"/>
                <a:ea typeface="맑은 고딕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429396"/>
            <a:ext cx="2133600" cy="292079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9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429396"/>
            <a:ext cx="2895600" cy="29207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429396"/>
            <a:ext cx="2133600" cy="292079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9804"/>
            <a:ext cx="7661196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chemeClr val="bg1"/>
                </a:solidFill>
                <a:effectLst/>
                <a:latin typeface="Noto Sans" pitchFamily="34" charset="0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402525" cy="5097710"/>
          </a:xfrm>
        </p:spPr>
        <p:txBody>
          <a:bodyPr/>
          <a:lstStyle>
            <a:lvl1pPr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1pPr>
            <a:lvl2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00834"/>
            <a:ext cx="2133600" cy="220641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500834"/>
            <a:ext cx="2895600" cy="22064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00834"/>
            <a:ext cx="2133600" cy="220641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402525" cy="5097710"/>
          </a:xfrm>
        </p:spPr>
        <p:txBody>
          <a:bodyPr/>
          <a:lstStyle>
            <a:lvl1pPr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1pPr>
            <a:lvl2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79512" y="39804"/>
            <a:ext cx="7661196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13000"/>
                    </a:prstClr>
                  </a:outerShdw>
                </a:effectLst>
                <a:latin typeface="Noto Sans" pitchFamily="34" charset="0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415788" y="1914799"/>
            <a:ext cx="5289702" cy="11541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0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" pitchFamily="34" charset="0"/>
                <a:ea typeface="맑은 고딕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9026"/>
            <a:ext cx="82296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62021"/>
            <a:ext cx="82296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29396"/>
            <a:ext cx="2895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0.png"/><Relationship Id="rId7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g"/><Relationship Id="rId11" Type="http://schemas.openxmlformats.org/officeDocument/2006/relationships/image" Target="../media/image25.jpeg"/><Relationship Id="rId5" Type="http://schemas.openxmlformats.org/officeDocument/2006/relationships/image" Target="../media/image1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jpg"/><Relationship Id="rId7" Type="http://schemas.openxmlformats.org/officeDocument/2006/relationships/image" Target="../media/image28.jpeg"/><Relationship Id="rId12" Type="http://schemas.openxmlformats.org/officeDocument/2006/relationships/image" Target="../media/image29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10.png"/><Relationship Id="rId5" Type="http://schemas.openxmlformats.org/officeDocument/2006/relationships/image" Target="../media/image26.png"/><Relationship Id="rId10" Type="http://schemas.openxmlformats.org/officeDocument/2006/relationships/image" Target="../media/image11.png"/><Relationship Id="rId4" Type="http://schemas.openxmlformats.org/officeDocument/2006/relationships/image" Target="../media/image21.jpe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jpe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10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64881" y="1706836"/>
            <a:ext cx="4507119" cy="1441215"/>
          </a:xfrm>
        </p:spPr>
        <p:txBody>
          <a:bodyPr/>
          <a:lstStyle/>
          <a:p>
            <a:pPr algn="ctr"/>
            <a:r>
              <a:rPr lang="ko-KR" altLang="en-US" sz="3200" b="1" dirty="0">
                <a:latin typeface="+mj-lt"/>
              </a:rPr>
              <a:t>전력구용 광케이블식 화재감시시스템</a:t>
            </a:r>
            <a:endParaRPr lang="ko-KR" altLang="en-US" sz="3200" b="1" dirty="0">
              <a:solidFill>
                <a:srgbClr val="0F3A55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EE1DFA-C303-431B-8F5F-56F2CCB2F3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72" y="6266644"/>
            <a:ext cx="1311458" cy="380650"/>
          </a:xfrm>
          <a:prstGeom prst="rect">
            <a:avLst/>
          </a:prstGeom>
        </p:spPr>
      </p:pic>
      <p:pic>
        <p:nvPicPr>
          <p:cNvPr id="5" name="그림 4" descr="로고이(가) 표시된 사진&#10;&#10;자동 생성된 설명">
            <a:extLst>
              <a:ext uri="{FF2B5EF4-FFF2-40B4-BE49-F238E27FC236}">
                <a16:creationId xmlns:a16="http://schemas.microsoft.com/office/drawing/2014/main" id="{D900F5B2-A99B-8840-C847-73831A4D4E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391989"/>
            <a:ext cx="1224136" cy="987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-244023" y="1631278"/>
            <a:ext cx="2983409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18000"/>
                    </a:prstClr>
                  </a:outerShdw>
                </a:effectLst>
                <a:latin typeface="Noto Sans" pitchFamily="34" charset="0"/>
                <a:ea typeface="맑은 고딕" pitchFamily="50" charset="-127"/>
              </a:rPr>
              <a:t>CONTENTS</a:t>
            </a:r>
            <a:endParaRPr lang="ko-KR" altLang="en-US" sz="3000" b="1" dirty="0">
              <a:solidFill>
                <a:schemeClr val="bg1"/>
              </a:solidFill>
              <a:effectLst>
                <a:outerShdw blurRad="63500" algn="ctr" rotWithShape="0">
                  <a:prstClr val="black">
                    <a:alpha val="18000"/>
                  </a:prstClr>
                </a:outerShdw>
              </a:effectLst>
              <a:latin typeface="Noto Sans" pitchFamily="34" charset="0"/>
              <a:ea typeface="맑은 고딕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2987824" y="692696"/>
            <a:ext cx="5649182" cy="686761"/>
            <a:chOff x="2987824" y="692696"/>
            <a:chExt cx="5649182" cy="686761"/>
          </a:xfrm>
        </p:grpSpPr>
        <p:grpSp>
          <p:nvGrpSpPr>
            <p:cNvPr id="85" name="그룹 84"/>
            <p:cNvGrpSpPr/>
            <p:nvPr/>
          </p:nvGrpSpPr>
          <p:grpSpPr>
            <a:xfrm>
              <a:off x="2987824" y="692696"/>
              <a:ext cx="4701145" cy="686761"/>
              <a:chOff x="5640428" y="1585371"/>
              <a:chExt cx="4701145" cy="686761"/>
            </a:xfrm>
          </p:grpSpPr>
          <p:sp>
            <p:nvSpPr>
              <p:cNvPr id="87" name="Text Box 5"/>
              <p:cNvSpPr txBox="1">
                <a:spLocks noChangeArrowheads="1"/>
              </p:cNvSpPr>
              <p:nvPr/>
            </p:nvSpPr>
            <p:spPr bwMode="auto">
              <a:xfrm>
                <a:off x="6106184" y="1585371"/>
                <a:ext cx="4142755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단독형 광수신기 및 통합감시시설 구성도</a:t>
                </a:r>
                <a:endParaRPr lang="en-US" altLang="ko-KR" sz="1400" b="1" dirty="0">
                  <a:solidFill>
                    <a:schemeClr val="accent1">
                      <a:lumMod val="75000"/>
                    </a:schemeClr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  <p:sp>
            <p:nvSpPr>
              <p:cNvPr id="88" name="Text Box 11"/>
              <p:cNvSpPr txBox="1">
                <a:spLocks noChangeArrowheads="1"/>
              </p:cNvSpPr>
              <p:nvPr/>
            </p:nvSpPr>
            <p:spPr bwMode="auto">
              <a:xfrm>
                <a:off x="6106185" y="2025911"/>
                <a:ext cx="4235388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Noto Sans" pitchFamily="34" charset="0"/>
                  <a:ea typeface="맑은 고딕" pitchFamily="50" charset="-127"/>
                  <a:cs typeface="굴림" pitchFamily="50" charset="-127"/>
                </a:endParaRPr>
              </a:p>
            </p:txBody>
          </p:sp>
          <p:sp>
            <p:nvSpPr>
              <p:cNvPr id="89" name="TextBox 13"/>
              <p:cNvSpPr txBox="1">
                <a:spLocks noChangeArrowheads="1"/>
              </p:cNvSpPr>
              <p:nvPr/>
            </p:nvSpPr>
            <p:spPr bwMode="auto">
              <a:xfrm>
                <a:off x="5640428" y="1629092"/>
                <a:ext cx="550151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0F3A55"/>
                    </a:solidFill>
                    <a:latin typeface="Noto Sans" pitchFamily="34" charset="0"/>
                    <a:ea typeface="맑은 고딕" pitchFamily="50" charset="-127"/>
                  </a:rPr>
                  <a:t>01</a:t>
                </a:r>
                <a:endParaRPr lang="ko-KR" altLang="en-US" sz="2500" b="1" dirty="0">
                  <a:solidFill>
                    <a:srgbClr val="0F3A55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</p:grpSp>
        <p:cxnSp>
          <p:nvCxnSpPr>
            <p:cNvPr id="174" name="직선 연결선 173"/>
            <p:cNvCxnSpPr>
              <a:cxnSpLocks/>
            </p:cNvCxnSpPr>
            <p:nvPr/>
          </p:nvCxnSpPr>
          <p:spPr>
            <a:xfrm>
              <a:off x="3503461" y="1019672"/>
              <a:ext cx="513354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3349962" y="1761005"/>
            <a:ext cx="5287044" cy="520775"/>
            <a:chOff x="3349962" y="1736108"/>
            <a:chExt cx="5287044" cy="520775"/>
          </a:xfrm>
        </p:grpSpPr>
        <p:grpSp>
          <p:nvGrpSpPr>
            <p:cNvPr id="151" name="그룹 150"/>
            <p:cNvGrpSpPr/>
            <p:nvPr/>
          </p:nvGrpSpPr>
          <p:grpSpPr>
            <a:xfrm>
              <a:off x="3349962" y="1736108"/>
              <a:ext cx="4246373" cy="520775"/>
              <a:chOff x="5640428" y="1585371"/>
              <a:chExt cx="4246373" cy="520775"/>
            </a:xfrm>
          </p:grpSpPr>
          <p:sp>
            <p:nvSpPr>
              <p:cNvPr id="153" name="Text Box 5"/>
              <p:cNvSpPr txBox="1">
                <a:spLocks noChangeArrowheads="1"/>
              </p:cNvSpPr>
              <p:nvPr/>
            </p:nvSpPr>
            <p:spPr bwMode="auto">
              <a:xfrm>
                <a:off x="6106184" y="1585371"/>
                <a:ext cx="378061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통합수신기 및 </a:t>
                </a:r>
                <a:r>
                  <a:rPr lang="ko-KR" altLang="en-US" sz="1400" b="1" dirty="0" err="1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스카다확장장치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 </a:t>
                </a: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(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유선</a:t>
                </a: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) 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구성도</a:t>
                </a:r>
                <a:endParaRPr lang="en-US" altLang="ko-KR" sz="1400" b="1" dirty="0">
                  <a:solidFill>
                    <a:srgbClr val="1D6DA0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  <p:sp>
            <p:nvSpPr>
              <p:cNvPr id="155" name="TextBox 13"/>
              <p:cNvSpPr txBox="1">
                <a:spLocks noChangeArrowheads="1"/>
              </p:cNvSpPr>
              <p:nvPr/>
            </p:nvSpPr>
            <p:spPr bwMode="auto">
              <a:xfrm>
                <a:off x="5640428" y="1629092"/>
                <a:ext cx="550151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0F3A55"/>
                    </a:solidFill>
                    <a:latin typeface="Noto Sans" pitchFamily="34" charset="0"/>
                    <a:ea typeface="맑은 고딕" pitchFamily="50" charset="-127"/>
                  </a:rPr>
                  <a:t>02</a:t>
                </a:r>
                <a:endParaRPr lang="ko-KR" altLang="en-US" sz="2500" b="1" dirty="0">
                  <a:solidFill>
                    <a:srgbClr val="0F3A55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</p:grpSp>
        <p:cxnSp>
          <p:nvCxnSpPr>
            <p:cNvPr id="175" name="직선 연결선 174"/>
            <p:cNvCxnSpPr>
              <a:cxnSpLocks/>
            </p:cNvCxnSpPr>
            <p:nvPr/>
          </p:nvCxnSpPr>
          <p:spPr>
            <a:xfrm>
              <a:off x="3856776" y="2069874"/>
              <a:ext cx="478023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1005265-45A1-47F5-0A61-E1A7B03A9A58}"/>
              </a:ext>
            </a:extLst>
          </p:cNvPr>
          <p:cNvGrpSpPr/>
          <p:nvPr/>
        </p:nvGrpSpPr>
        <p:grpSpPr>
          <a:xfrm>
            <a:off x="3625037" y="2800697"/>
            <a:ext cx="5011969" cy="520775"/>
            <a:chOff x="3349962" y="1736108"/>
            <a:chExt cx="5287044" cy="520775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8D8639B-64E6-BA64-44E9-45F1814CBD1F}"/>
                </a:ext>
              </a:extLst>
            </p:cNvPr>
            <p:cNvGrpSpPr/>
            <p:nvPr/>
          </p:nvGrpSpPr>
          <p:grpSpPr>
            <a:xfrm>
              <a:off x="3349962" y="1736108"/>
              <a:ext cx="4569058" cy="520775"/>
              <a:chOff x="5640428" y="1585371"/>
              <a:chExt cx="4569058" cy="520775"/>
            </a:xfrm>
          </p:grpSpPr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F0BE0EEF-D1C5-BA48-765D-57A0BB16DC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2143" y="1585371"/>
                <a:ext cx="402734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IMS 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및 </a:t>
                </a:r>
                <a:r>
                  <a:rPr lang="ko-KR" altLang="en-US" sz="1400" b="1" dirty="0" err="1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스카다확장장치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 </a:t>
                </a: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(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유</a:t>
                </a: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/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무선</a:t>
                </a:r>
                <a:r>
                  <a:rPr lang="en-US" altLang="ko-KR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) </a:t>
                </a: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구성도</a:t>
                </a:r>
                <a:endParaRPr lang="en-US" altLang="ko-KR" sz="1400" b="1" dirty="0">
                  <a:solidFill>
                    <a:srgbClr val="1D6DA0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  <p:sp>
            <p:nvSpPr>
              <p:cNvPr id="7" name="TextBox 13">
                <a:extLst>
                  <a:ext uri="{FF2B5EF4-FFF2-40B4-BE49-F238E27FC236}">
                    <a16:creationId xmlns:a16="http://schemas.microsoft.com/office/drawing/2014/main" id="{C48DCDEB-C5D0-7AD7-5BAD-937888F68E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0428" y="1629092"/>
                <a:ext cx="566817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0F3A55"/>
                    </a:solidFill>
                    <a:latin typeface="Noto Sans" pitchFamily="34" charset="0"/>
                    <a:ea typeface="맑은 고딕" pitchFamily="50" charset="-127"/>
                  </a:rPr>
                  <a:t>03</a:t>
                </a:r>
                <a:endParaRPr lang="ko-KR" altLang="en-US" sz="2500" b="1" dirty="0">
                  <a:solidFill>
                    <a:srgbClr val="0F3A55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</p:grp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C33014CE-5E0B-78D3-EAF9-52D4FB55CADA}"/>
                </a:ext>
              </a:extLst>
            </p:cNvPr>
            <p:cNvCxnSpPr>
              <a:cxnSpLocks/>
            </p:cNvCxnSpPr>
            <p:nvPr/>
          </p:nvCxnSpPr>
          <p:spPr>
            <a:xfrm>
              <a:off x="3856776" y="2069874"/>
              <a:ext cx="478023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Box 11">
            <a:extLst>
              <a:ext uri="{FF2B5EF4-FFF2-40B4-BE49-F238E27FC236}">
                <a16:creationId xmlns:a16="http://schemas.microsoft.com/office/drawing/2014/main" id="{B2660EE5-D7B8-2EF5-4FAE-F438CAD66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482" y="3235021"/>
            <a:ext cx="42353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1200"/>
              </a:lnSpc>
              <a:defRPr/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- IMS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와 전력구용 화재수신기간 네트워크 연결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Noto Sans" pitchFamily="34" charset="0"/>
              <a:ea typeface="맑은 고딕" pitchFamily="50" charset="-127"/>
              <a:cs typeface="굴림" pitchFamily="50" charset="-127"/>
            </a:endParaRPr>
          </a:p>
          <a:p>
            <a:pPr>
              <a:lnSpc>
                <a:spcPts val="1200"/>
              </a:lnSpc>
              <a:defRPr/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통합수신기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vs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통합관제시스템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(IMS)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 비교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Noto Sans" pitchFamily="34" charset="0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54E7E8B4-D1EA-32C1-7371-54AAD003D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719" y="2175721"/>
            <a:ext cx="42353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1200"/>
              </a:lnSpc>
              <a:defRPr/>
            </a:pP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통합수신기와 전력구용 화재수신기간 네트워크 연결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Noto Sans" pitchFamily="34" charset="0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35C086FD-5E79-3864-D7D9-A3BFB5222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581" y="1118049"/>
            <a:ext cx="42353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1200"/>
              </a:lnSpc>
              <a:defRPr/>
            </a:pP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전력구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 수신기와 소방서간 연결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Noto Sans" pitchFamily="34" charset="0"/>
              <a:ea typeface="맑은 고딕" pitchFamily="50" charset="-127"/>
              <a:cs typeface="굴림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AF3947-7F4A-84C6-BA43-9C51F4E6B785}"/>
              </a:ext>
            </a:extLst>
          </p:cNvPr>
          <p:cNvGrpSpPr/>
          <p:nvPr/>
        </p:nvGrpSpPr>
        <p:grpSpPr>
          <a:xfrm>
            <a:off x="4054851" y="3743948"/>
            <a:ext cx="4582156" cy="520775"/>
            <a:chOff x="3349962" y="1736108"/>
            <a:chExt cx="4833641" cy="520775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A9846E5-E610-702E-39EC-096B4AF7476F}"/>
                </a:ext>
              </a:extLst>
            </p:cNvPr>
            <p:cNvGrpSpPr/>
            <p:nvPr/>
          </p:nvGrpSpPr>
          <p:grpSpPr>
            <a:xfrm>
              <a:off x="3349962" y="1736108"/>
              <a:ext cx="3418507" cy="520775"/>
              <a:chOff x="5640428" y="1585371"/>
              <a:chExt cx="3418507" cy="520775"/>
            </a:xfrm>
          </p:grpSpPr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6A31A72A-2FA7-E07E-6B9A-8F808467A1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6185" y="1585371"/>
                <a:ext cx="2952750" cy="307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ko-KR" altLang="en-US" sz="1400" b="1" dirty="0">
                    <a:solidFill>
                      <a:srgbClr val="1D6DA0"/>
                    </a:solidFill>
                    <a:latin typeface="Noto Sans" pitchFamily="34" charset="0"/>
                    <a:ea typeface="맑은 고딕" pitchFamily="50" charset="-127"/>
                  </a:rPr>
                  <a:t>화재수신기 화면구성</a:t>
                </a:r>
                <a:endParaRPr lang="en-US" altLang="ko-KR" sz="1400" b="1" dirty="0">
                  <a:solidFill>
                    <a:srgbClr val="1D6DA0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88EA31ED-9AA5-E456-ABFC-E07B2CD72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0428" y="1629092"/>
                <a:ext cx="566817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0F3A55"/>
                    </a:solidFill>
                    <a:latin typeface="Noto Sans" pitchFamily="34" charset="0"/>
                    <a:ea typeface="맑은 고딕" pitchFamily="50" charset="-127"/>
                  </a:rPr>
                  <a:t>04</a:t>
                </a:r>
                <a:endParaRPr lang="ko-KR" altLang="en-US" sz="2500" b="1" dirty="0">
                  <a:solidFill>
                    <a:srgbClr val="0F3A55"/>
                  </a:solidFill>
                  <a:latin typeface="Noto Sans" pitchFamily="34" charset="0"/>
                  <a:ea typeface="맑은 고딕" pitchFamily="50" charset="-127"/>
                </a:endParaRPr>
              </a:p>
            </p:txBody>
          </p: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131E030-E86C-E224-6E9B-BC514DBBBC5C}"/>
                </a:ext>
              </a:extLst>
            </p:cNvPr>
            <p:cNvCxnSpPr>
              <a:cxnSpLocks/>
            </p:cNvCxnSpPr>
            <p:nvPr/>
          </p:nvCxnSpPr>
          <p:spPr>
            <a:xfrm>
              <a:off x="3856776" y="2069874"/>
              <a:ext cx="432682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Box 11">
            <a:extLst>
              <a:ext uri="{FF2B5EF4-FFF2-40B4-BE49-F238E27FC236}">
                <a16:creationId xmlns:a16="http://schemas.microsoft.com/office/drawing/2014/main" id="{4B0900E1-EB0E-80BA-B456-F81BD31E2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082" y="4178472"/>
            <a:ext cx="42353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1200"/>
              </a:lnSpc>
              <a:defRPr/>
            </a:pP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감시화면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/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Noto Sans" pitchFamily="34" charset="0"/>
                <a:ea typeface="맑은 고딕" pitchFamily="50" charset="-127"/>
                <a:cs typeface="굴림" pitchFamily="50" charset="-127"/>
              </a:rPr>
              <a:t>화재발생시 화면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Noto Sans" pitchFamily="34" charset="0"/>
              <a:ea typeface="맑은 고딕" pitchFamily="50" charset="-127"/>
              <a:cs typeface="굴림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418D-4CC9-B344-25A9-BC93BB29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1. </a:t>
            </a:r>
            <a:r>
              <a:rPr lang="ko-KR" altLang="en-US" sz="2200" dirty="0"/>
              <a:t>단독형 광수신기 및 통합감시시설 구성도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71A5527-D0FF-E332-79DB-F6940FD7E87F}"/>
              </a:ext>
            </a:extLst>
          </p:cNvPr>
          <p:cNvGrpSpPr/>
          <p:nvPr/>
        </p:nvGrpSpPr>
        <p:grpSpPr>
          <a:xfrm>
            <a:off x="2909793" y="1880828"/>
            <a:ext cx="2292859" cy="1660753"/>
            <a:chOff x="477096" y="3915631"/>
            <a:chExt cx="2917131" cy="201128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018BB22-42C8-FC26-DB66-AC9B61FAE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3054" y="4851448"/>
              <a:ext cx="596564" cy="3108"/>
            </a:xfrm>
            <a:prstGeom prst="line">
              <a:avLst/>
            </a:prstGeom>
            <a:ln w="22225">
              <a:solidFill>
                <a:srgbClr val="0070C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E9B6AC-DB7F-03D2-7B80-2DDE1309B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96" y="3915631"/>
              <a:ext cx="1358831" cy="2011285"/>
            </a:xfrm>
            <a:prstGeom prst="rect">
              <a:avLst/>
            </a:prstGeom>
          </p:spPr>
        </p:pic>
        <p:pic>
          <p:nvPicPr>
            <p:cNvPr id="8" name="Picture 16">
              <a:extLst>
                <a:ext uri="{FF2B5EF4-FFF2-40B4-BE49-F238E27FC236}">
                  <a16:creationId xmlns:a16="http://schemas.microsoft.com/office/drawing/2014/main" id="{E7FD8E64-16A9-5173-91D2-EB2FE503F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9618" y="3966969"/>
              <a:ext cx="976735" cy="129860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0579DB-7A3B-A0FB-9252-7E82BBF1C753}"/>
                </a:ext>
              </a:extLst>
            </p:cNvPr>
            <p:cNvSpPr txBox="1"/>
            <p:nvPr/>
          </p:nvSpPr>
          <p:spPr>
            <a:xfrm>
              <a:off x="1797578" y="4881235"/>
              <a:ext cx="605944" cy="26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RS485</a:t>
              </a:r>
              <a:endParaRPr lang="ko-KR" altLang="en-US" sz="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0F0CFB-E666-2ACC-80FC-009751A906CF}"/>
                </a:ext>
              </a:extLst>
            </p:cNvPr>
            <p:cNvSpPr txBox="1"/>
            <p:nvPr/>
          </p:nvSpPr>
          <p:spPr>
            <a:xfrm>
              <a:off x="2345617" y="5362958"/>
              <a:ext cx="1048610" cy="260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무선통신장치</a:t>
              </a:r>
              <a:endParaRPr lang="ko-KR" altLang="en-US" sz="700" dirty="0"/>
            </a:p>
          </p:txBody>
        </p:sp>
      </p:grp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01C7AA2-AC92-715D-BDB9-EBB5074FC078}"/>
              </a:ext>
            </a:extLst>
          </p:cNvPr>
          <p:cNvCxnSpPr>
            <a:cxnSpLocks/>
          </p:cNvCxnSpPr>
          <p:nvPr/>
        </p:nvCxnSpPr>
        <p:spPr>
          <a:xfrm flipH="1">
            <a:off x="2167511" y="3541581"/>
            <a:ext cx="4758" cy="886362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FD74EE2-7227-DCCF-2278-C34E4119C176}"/>
              </a:ext>
            </a:extLst>
          </p:cNvPr>
          <p:cNvSpPr txBox="1"/>
          <p:nvPr/>
        </p:nvSpPr>
        <p:spPr>
          <a:xfrm>
            <a:off x="2987824" y="3663672"/>
            <a:ext cx="88998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광케이블식</a:t>
            </a:r>
            <a:endParaRPr lang="en-US" altLang="ko-KR" sz="1100" dirty="0"/>
          </a:p>
          <a:p>
            <a:r>
              <a:rPr lang="ko-KR" altLang="en-US" sz="1100" dirty="0"/>
              <a:t>화재수신기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2A821918-CBD3-411C-0503-D60C4A72A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146" y="2474727"/>
            <a:ext cx="862781" cy="1072800"/>
          </a:xfrm>
          <a:prstGeom prst="rect">
            <a:avLst/>
          </a:prstGeom>
        </p:spPr>
      </p:pic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6E3D92D-06F6-1B20-E1F4-CFEF86E4ABAD}"/>
              </a:ext>
            </a:extLst>
          </p:cNvPr>
          <p:cNvCxnSpPr>
            <a:cxnSpLocks/>
          </p:cNvCxnSpPr>
          <p:nvPr/>
        </p:nvCxnSpPr>
        <p:spPr>
          <a:xfrm>
            <a:off x="2564485" y="3011127"/>
            <a:ext cx="354017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04A0E3C4-17F3-A022-EFAB-D91508165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121" y="4364699"/>
            <a:ext cx="862781" cy="1072800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68D5C7E2-4FF0-28AC-7F23-E90FC6514567}"/>
              </a:ext>
            </a:extLst>
          </p:cNvPr>
          <p:cNvGrpSpPr/>
          <p:nvPr/>
        </p:nvGrpSpPr>
        <p:grpSpPr>
          <a:xfrm>
            <a:off x="323528" y="3319227"/>
            <a:ext cx="1430011" cy="219546"/>
            <a:chOff x="323528" y="3319227"/>
            <a:chExt cx="1430011" cy="219546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CD67469-5D36-895C-1B78-9A06AF00B0FD}"/>
                </a:ext>
              </a:extLst>
            </p:cNvPr>
            <p:cNvCxnSpPr/>
            <p:nvPr/>
          </p:nvCxnSpPr>
          <p:spPr>
            <a:xfrm>
              <a:off x="323528" y="3538773"/>
              <a:ext cx="11521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09EEE01C-5CCD-6A65-E893-F3AAF4117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6520" y="3319227"/>
              <a:ext cx="297019" cy="2195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F809BB7-C19C-3311-7395-CD8B5CB81A89}"/>
              </a:ext>
            </a:extLst>
          </p:cNvPr>
          <p:cNvGrpSpPr/>
          <p:nvPr/>
        </p:nvGrpSpPr>
        <p:grpSpPr>
          <a:xfrm>
            <a:off x="323528" y="5217953"/>
            <a:ext cx="1430011" cy="219546"/>
            <a:chOff x="323528" y="3319227"/>
            <a:chExt cx="1430011" cy="219546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89E5DFF-B34E-1F0A-9CA7-F4FC6E47DA6A}"/>
                </a:ext>
              </a:extLst>
            </p:cNvPr>
            <p:cNvCxnSpPr/>
            <p:nvPr/>
          </p:nvCxnSpPr>
          <p:spPr>
            <a:xfrm>
              <a:off x="323528" y="3538773"/>
              <a:ext cx="11521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125BD06-D357-85A1-E5F0-9921586D6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6520" y="3319227"/>
              <a:ext cx="297019" cy="2195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47BF25E-344C-AF49-5113-CC4555149AA1}"/>
              </a:ext>
            </a:extLst>
          </p:cNvPr>
          <p:cNvSpPr txBox="1"/>
          <p:nvPr/>
        </p:nvSpPr>
        <p:spPr>
          <a:xfrm>
            <a:off x="200692" y="3088608"/>
            <a:ext cx="1558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광케이블식 </a:t>
            </a:r>
            <a:r>
              <a:rPr lang="ko-KR" altLang="en-US" sz="10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감지선</a:t>
            </a:r>
            <a:r>
              <a:rPr lang="en-US" altLang="ko-KR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(FOS)</a:t>
            </a:r>
            <a:endParaRPr lang="ko-KR" altLang="en-US" sz="18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C3A8D5-9ED6-D69E-F107-3E9D910B3778}"/>
              </a:ext>
            </a:extLst>
          </p:cNvPr>
          <p:cNvSpPr txBox="1"/>
          <p:nvPr/>
        </p:nvSpPr>
        <p:spPr>
          <a:xfrm>
            <a:off x="179512" y="5018117"/>
            <a:ext cx="1558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광케이블식 </a:t>
            </a:r>
            <a:r>
              <a:rPr lang="ko-KR" altLang="en-US" sz="10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감지선</a:t>
            </a:r>
            <a:r>
              <a:rPr lang="en-US" altLang="ko-KR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(FOS)</a:t>
            </a:r>
            <a:endParaRPr lang="ko-KR" altLang="en-US" sz="18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B61AAC-1039-46BA-0DD1-027EDB39546F}"/>
              </a:ext>
            </a:extLst>
          </p:cNvPr>
          <p:cNvSpPr txBox="1"/>
          <p:nvPr/>
        </p:nvSpPr>
        <p:spPr>
          <a:xfrm>
            <a:off x="1475656" y="2158945"/>
            <a:ext cx="1409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분포형 </a:t>
            </a:r>
            <a:r>
              <a:rPr lang="ko-KR" altLang="en-US" sz="10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검출부</a:t>
            </a:r>
            <a:r>
              <a:rPr lang="en-US" altLang="ko-KR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(ADS)</a:t>
            </a:r>
            <a:endParaRPr lang="ko-KR" altLang="en-US" sz="10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59971D-6672-8EBC-2FE8-ACF2ECD5BE77}"/>
              </a:ext>
            </a:extLst>
          </p:cNvPr>
          <p:cNvSpPr txBox="1"/>
          <p:nvPr/>
        </p:nvSpPr>
        <p:spPr>
          <a:xfrm>
            <a:off x="1539110" y="5559590"/>
            <a:ext cx="1409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분포형 </a:t>
            </a:r>
            <a:r>
              <a:rPr lang="ko-KR" altLang="en-US" sz="10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검출부</a:t>
            </a:r>
            <a:r>
              <a:rPr lang="en-US" altLang="ko-KR" sz="10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(ADS)</a:t>
            </a:r>
            <a:endParaRPr lang="ko-KR" altLang="en-US" sz="10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3BB943-7BC5-84D8-F56C-93B910CAB646}"/>
              </a:ext>
            </a:extLst>
          </p:cNvPr>
          <p:cNvSpPr txBox="1"/>
          <p:nvPr/>
        </p:nvSpPr>
        <p:spPr>
          <a:xfrm>
            <a:off x="1518279" y="5927902"/>
            <a:ext cx="152681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화재수신기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대당 최대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대까지 접속가능</a:t>
            </a:r>
            <a:endParaRPr lang="ko-KR" altLang="en-US" sz="10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46366E-CAA5-FE10-01E9-A0A214AB3297}"/>
              </a:ext>
            </a:extLst>
          </p:cNvPr>
          <p:cNvSpPr/>
          <p:nvPr/>
        </p:nvSpPr>
        <p:spPr>
          <a:xfrm>
            <a:off x="7095979" y="3429000"/>
            <a:ext cx="1262190" cy="4280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소방본부</a:t>
            </a:r>
            <a:endParaRPr lang="en-US" altLang="ko-KR" sz="1100" dirty="0"/>
          </a:p>
          <a:p>
            <a:pPr algn="ctr"/>
            <a:r>
              <a:rPr lang="en-US" altLang="ko-KR" sz="1100" dirty="0"/>
              <a:t>119</a:t>
            </a:r>
            <a:r>
              <a:rPr lang="ko-KR" altLang="en-US" sz="1100" dirty="0"/>
              <a:t>종합상황실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CA4BFD5-B647-4537-5E52-60C69832CA6A}"/>
              </a:ext>
            </a:extLst>
          </p:cNvPr>
          <p:cNvGrpSpPr/>
          <p:nvPr/>
        </p:nvGrpSpPr>
        <p:grpSpPr>
          <a:xfrm>
            <a:off x="6305067" y="1427322"/>
            <a:ext cx="2488371" cy="1955687"/>
            <a:chOff x="6305067" y="1427322"/>
            <a:chExt cx="2488371" cy="1955687"/>
          </a:xfrm>
        </p:grpSpPr>
        <p:pic>
          <p:nvPicPr>
            <p:cNvPr id="46" name="그림 45" descr="텍스트이(가) 표시된 사진&#10;&#10;자동 생성된 설명">
              <a:extLst>
                <a:ext uri="{FF2B5EF4-FFF2-40B4-BE49-F238E27FC236}">
                  <a16:creationId xmlns:a16="http://schemas.microsoft.com/office/drawing/2014/main" id="{65B35248-6B32-DD02-A3F4-BF25FA5D9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8829" y="1427322"/>
              <a:ext cx="2444609" cy="1955687"/>
            </a:xfrm>
            <a:prstGeom prst="rect">
              <a:avLst/>
            </a:prstGeom>
          </p:spPr>
        </p:pic>
        <p:pic>
          <p:nvPicPr>
            <p:cNvPr id="47" name="그림 46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5F5F3DE3-E7F0-BD90-7566-8011493CB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229164" y="1912551"/>
              <a:ext cx="502129" cy="350323"/>
            </a:xfrm>
            <a:prstGeom prst="rect">
              <a:avLst/>
            </a:prstGeom>
          </p:spPr>
        </p:pic>
      </p:grpSp>
      <p:pic>
        <p:nvPicPr>
          <p:cNvPr id="49" name="그림 48" descr="클립아트이(가) 표시된 사진&#10;&#10;자동 생성된 설명">
            <a:extLst>
              <a:ext uri="{FF2B5EF4-FFF2-40B4-BE49-F238E27FC236}">
                <a16:creationId xmlns:a16="http://schemas.microsoft.com/office/drawing/2014/main" id="{581CCAC9-F403-FEE9-78BE-C2198F2179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81878" y="1732719"/>
            <a:ext cx="502129" cy="35032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452A9DE-6FCF-0ACB-6801-A4A46007BFE2}"/>
              </a:ext>
            </a:extLst>
          </p:cNvPr>
          <p:cNvSpPr txBox="1"/>
          <p:nvPr/>
        </p:nvSpPr>
        <p:spPr>
          <a:xfrm>
            <a:off x="2522298" y="3047011"/>
            <a:ext cx="476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RS485</a:t>
            </a:r>
            <a:endParaRPr lang="ko-KR" altLang="en-US" sz="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0C5AE4-2E11-B991-40BD-606036A336E3}"/>
              </a:ext>
            </a:extLst>
          </p:cNvPr>
          <p:cNvSpPr txBox="1"/>
          <p:nvPr/>
        </p:nvSpPr>
        <p:spPr>
          <a:xfrm>
            <a:off x="4584876" y="5313924"/>
            <a:ext cx="123555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한전 변전소</a:t>
            </a:r>
            <a:endParaRPr lang="en-US" altLang="ko-KR" sz="1100" b="1" dirty="0"/>
          </a:p>
          <a:p>
            <a:pPr algn="ctr"/>
            <a:r>
              <a:rPr lang="ko-KR" altLang="en-US" sz="1100" b="1" dirty="0" err="1"/>
              <a:t>스카다</a:t>
            </a:r>
            <a:r>
              <a:rPr lang="ko-KR" altLang="en-US" sz="1100" b="1" dirty="0"/>
              <a:t> 시스템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49B9407-1FDF-0F4E-40D1-3DA1724D5F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671" y="4023271"/>
            <a:ext cx="2026423" cy="1194682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08CE6A07-40AB-1C2A-32FF-218CFA8DC3D1}"/>
              </a:ext>
            </a:extLst>
          </p:cNvPr>
          <p:cNvGrpSpPr/>
          <p:nvPr/>
        </p:nvGrpSpPr>
        <p:grpSpPr>
          <a:xfrm>
            <a:off x="3961020" y="3473113"/>
            <a:ext cx="323048" cy="571715"/>
            <a:chOff x="3961020" y="3473113"/>
            <a:chExt cx="323048" cy="571715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9116EE01-5876-B88C-84B2-F7A92FD83EBD}"/>
                </a:ext>
              </a:extLst>
            </p:cNvPr>
            <p:cNvCxnSpPr>
              <a:cxnSpLocks/>
            </p:cNvCxnSpPr>
            <p:nvPr/>
          </p:nvCxnSpPr>
          <p:spPr>
            <a:xfrm>
              <a:off x="3961020" y="3473113"/>
              <a:ext cx="323048" cy="87217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8A08994-8AA7-A8A5-070C-961C96DCB63C}"/>
                </a:ext>
              </a:extLst>
            </p:cNvPr>
            <p:cNvCxnSpPr>
              <a:cxnSpLocks/>
            </p:cNvCxnSpPr>
            <p:nvPr/>
          </p:nvCxnSpPr>
          <p:spPr>
            <a:xfrm>
              <a:off x="4275118" y="3569084"/>
              <a:ext cx="8950" cy="475744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00723FD-C9E2-780F-C8EF-8A2044002CA8}"/>
              </a:ext>
            </a:extLst>
          </p:cNvPr>
          <p:cNvGrpSpPr/>
          <p:nvPr/>
        </p:nvGrpSpPr>
        <p:grpSpPr>
          <a:xfrm>
            <a:off x="6504769" y="5394580"/>
            <a:ext cx="2146996" cy="1058755"/>
            <a:chOff x="6186094" y="5327726"/>
            <a:chExt cx="2087744" cy="1241842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51B468-DF4C-135C-1339-3D6F908873CB}"/>
                </a:ext>
              </a:extLst>
            </p:cNvPr>
            <p:cNvSpPr txBox="1"/>
            <p:nvPr/>
          </p:nvSpPr>
          <p:spPr>
            <a:xfrm>
              <a:off x="6947855" y="5572532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시리얼통신</a:t>
              </a: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99941A1A-4149-9E93-67AC-B2F325595459}"/>
                </a:ext>
              </a:extLst>
            </p:cNvPr>
            <p:cNvCxnSpPr>
              <a:cxnSpLocks/>
            </p:cNvCxnSpPr>
            <p:nvPr/>
          </p:nvCxnSpPr>
          <p:spPr>
            <a:xfrm>
              <a:off x="6353386" y="5691202"/>
              <a:ext cx="534857" cy="0"/>
            </a:xfrm>
            <a:prstGeom prst="line">
              <a:avLst/>
            </a:prstGeom>
            <a:ln w="222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05DD75F3-AE39-0C75-E578-DD247906A7E5}"/>
                </a:ext>
              </a:extLst>
            </p:cNvPr>
            <p:cNvCxnSpPr>
              <a:cxnSpLocks/>
            </p:cNvCxnSpPr>
            <p:nvPr/>
          </p:nvCxnSpPr>
          <p:spPr>
            <a:xfrm>
              <a:off x="6358094" y="5916195"/>
              <a:ext cx="553912" cy="0"/>
            </a:xfrm>
            <a:prstGeom prst="line">
              <a:avLst/>
            </a:prstGeom>
            <a:ln w="25400" cmpd="sng">
              <a:solidFill>
                <a:schemeClr val="tx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3D7D151-A7FC-A046-7816-52EF9D3AB6D8}"/>
                </a:ext>
              </a:extLst>
            </p:cNvPr>
            <p:cNvSpPr txBox="1"/>
            <p:nvPr/>
          </p:nvSpPr>
          <p:spPr>
            <a:xfrm>
              <a:off x="6912006" y="5805811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광통신망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7ACD1CD-031A-FE3A-F03D-E965DC236D45}"/>
                </a:ext>
              </a:extLst>
            </p:cNvPr>
            <p:cNvSpPr txBox="1"/>
            <p:nvPr/>
          </p:nvSpPr>
          <p:spPr>
            <a:xfrm>
              <a:off x="6983100" y="6119960"/>
              <a:ext cx="12907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rgbClr val="FF0000"/>
                  </a:solidFill>
                </a:rPr>
                <a:t>IoT LTE </a:t>
              </a:r>
              <a:r>
                <a:rPr lang="ko-KR" altLang="en-US" sz="1100" b="1" dirty="0">
                  <a:solidFill>
                    <a:srgbClr val="FF0000"/>
                  </a:solidFill>
                </a:rPr>
                <a:t>무선통신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C563E13-0BA5-1721-51E1-7176ECAD3397}"/>
                </a:ext>
              </a:extLst>
            </p:cNvPr>
            <p:cNvSpPr txBox="1"/>
            <p:nvPr/>
          </p:nvSpPr>
          <p:spPr>
            <a:xfrm>
              <a:off x="6947855" y="5332817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접점연결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FD1E3BE-6D05-93EF-EE2A-6069C3A9B25A}"/>
                </a:ext>
              </a:extLst>
            </p:cNvPr>
            <p:cNvCxnSpPr>
              <a:cxnSpLocks/>
            </p:cNvCxnSpPr>
            <p:nvPr/>
          </p:nvCxnSpPr>
          <p:spPr>
            <a:xfrm>
              <a:off x="6353386" y="5451487"/>
              <a:ext cx="534857" cy="0"/>
            </a:xfrm>
            <a:prstGeom prst="line">
              <a:avLst/>
            </a:prstGeom>
            <a:ln w="2222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그림 103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F8920D96-D238-FD88-66F9-5195141F3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369749" y="6081758"/>
              <a:ext cx="502129" cy="350323"/>
            </a:xfrm>
            <a:prstGeom prst="rect">
              <a:avLst/>
            </a:prstGeom>
          </p:spPr>
        </p:pic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BE595F42-7514-562E-5820-99ECFA986300}"/>
                </a:ext>
              </a:extLst>
            </p:cNvPr>
            <p:cNvSpPr/>
            <p:nvPr/>
          </p:nvSpPr>
          <p:spPr>
            <a:xfrm>
              <a:off x="6186094" y="5327726"/>
              <a:ext cx="2087744" cy="124184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AEBE4E-69A9-9EAA-C1CB-AF70979586CF}"/>
              </a:ext>
            </a:extLst>
          </p:cNvPr>
          <p:cNvSpPr/>
          <p:nvPr/>
        </p:nvSpPr>
        <p:spPr>
          <a:xfrm>
            <a:off x="6504769" y="4306420"/>
            <a:ext cx="2288669" cy="8348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FF0000"/>
                </a:solidFill>
              </a:rPr>
              <a:t>「지하구의</a:t>
            </a:r>
            <a:r>
              <a:rPr lang="en-US" altLang="ko-KR" sz="1000" dirty="0">
                <a:solidFill>
                  <a:srgbClr val="FF0000"/>
                </a:solidFill>
              </a:rPr>
              <a:t>_</a:t>
            </a:r>
            <a:r>
              <a:rPr lang="ko-KR" altLang="en-US" sz="1000" dirty="0">
                <a:solidFill>
                  <a:srgbClr val="FF0000"/>
                </a:solidFill>
              </a:rPr>
              <a:t>화재안전기준</a:t>
            </a:r>
            <a:r>
              <a:rPr lang="en-US" altLang="ko-KR" sz="1000" dirty="0">
                <a:solidFill>
                  <a:srgbClr val="FF0000"/>
                </a:solidFill>
              </a:rPr>
              <a:t>(NFSC_605)</a:t>
            </a:r>
            <a:r>
              <a:rPr lang="ko-KR" altLang="en-US" sz="1000" dirty="0">
                <a:solidFill>
                  <a:srgbClr val="FF0000"/>
                </a:solidFill>
              </a:rPr>
              <a:t>」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</a:t>
            </a:r>
            <a:r>
              <a:rPr lang="ko-KR" altLang="en-US" sz="1000" dirty="0">
                <a:solidFill>
                  <a:srgbClr val="FF0000"/>
                </a:solidFill>
              </a:rPr>
              <a:t>조 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 </a:t>
            </a:r>
            <a:r>
              <a:rPr lang="en-US" altLang="ko-KR" sz="1000" dirty="0">
                <a:solidFill>
                  <a:srgbClr val="FF0000"/>
                </a:solidFill>
              </a:rPr>
              <a:t>“</a:t>
            </a:r>
            <a:r>
              <a:rPr lang="ko-KR" altLang="en-US" sz="1000" dirty="0">
                <a:solidFill>
                  <a:srgbClr val="FF0000"/>
                </a:solidFill>
              </a:rPr>
              <a:t>통합감시시설 구성 표준 프로토콜 정의서</a:t>
            </a:r>
            <a:r>
              <a:rPr lang="en-US" altLang="ko-KR" sz="1000" dirty="0">
                <a:solidFill>
                  <a:srgbClr val="FF0000"/>
                </a:solidFill>
              </a:rPr>
              <a:t>”</a:t>
            </a:r>
            <a:r>
              <a:rPr lang="ko-KR" altLang="en-US" sz="1000" dirty="0">
                <a:solidFill>
                  <a:srgbClr val="FF0000"/>
                </a:solidFill>
              </a:rPr>
              <a:t> 충족</a:t>
            </a:r>
          </a:p>
        </p:txBody>
      </p:sp>
    </p:spTree>
    <p:extLst>
      <p:ext uri="{BB962C8B-B14F-4D97-AF65-F5344CB8AC3E}">
        <p14:creationId xmlns:p14="http://schemas.microsoft.com/office/powerpoint/2010/main" val="181663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37577-B70B-6BDE-54D8-A34B833E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>
                <a:latin typeface="맑은 고딕" panose="020B0503020000020004" pitchFamily="50" charset="-127"/>
              </a:rPr>
              <a:t> - </a:t>
            </a:r>
            <a:r>
              <a:rPr lang="ko-KR" altLang="en-US" sz="2200" dirty="0">
                <a:latin typeface="맑은 고딕" panose="020B0503020000020004" pitchFamily="50" charset="-127"/>
              </a:rPr>
              <a:t>전력구용 화재수신기 연결</a:t>
            </a:r>
          </a:p>
        </p:txBody>
      </p:sp>
      <p:pic>
        <p:nvPicPr>
          <p:cNvPr id="29" name="내용 개체 틀 28">
            <a:extLst>
              <a:ext uri="{FF2B5EF4-FFF2-40B4-BE49-F238E27FC236}">
                <a16:creationId xmlns:a16="http://schemas.microsoft.com/office/drawing/2014/main" id="{9D69E684-F397-70F4-7FF3-7C0BD94D6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50116"/>
            <a:ext cx="1296144" cy="19511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49D5235-2155-02BE-41F7-ED19C5967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422" y="2336488"/>
            <a:ext cx="856357" cy="106481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5FEC747-87A1-8AB7-ADD8-63D39344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2344986"/>
            <a:ext cx="856357" cy="1064812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0BECA9C-1F95-FC27-5B39-0C185E9B1BE4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2106317" y="2868894"/>
            <a:ext cx="939105" cy="0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5A9FD64-13A4-E663-107A-CEB332F4AD65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3885840" y="2868894"/>
            <a:ext cx="2630376" cy="8498"/>
          </a:xfrm>
          <a:prstGeom prst="line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70CE267-9474-A914-1D4E-3572E1612A6A}"/>
              </a:ext>
            </a:extLst>
          </p:cNvPr>
          <p:cNvSpPr txBox="1"/>
          <p:nvPr/>
        </p:nvSpPr>
        <p:spPr>
          <a:xfrm>
            <a:off x="2656708" y="2033148"/>
            <a:ext cx="16598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ADS (</a:t>
            </a:r>
            <a:r>
              <a:rPr lang="ko-KR" altLang="en-US" sz="1000" dirty="0"/>
              <a:t>광케이블식 </a:t>
            </a:r>
            <a:r>
              <a:rPr lang="ko-KR" altLang="en-US" sz="1000" dirty="0" err="1"/>
              <a:t>검출부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A71D5-79E3-B002-B7C8-94867B387174}"/>
              </a:ext>
            </a:extLst>
          </p:cNvPr>
          <p:cNvSpPr txBox="1"/>
          <p:nvPr/>
        </p:nvSpPr>
        <p:spPr>
          <a:xfrm>
            <a:off x="6114491" y="2035956"/>
            <a:ext cx="1659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ADS (</a:t>
            </a:r>
            <a:r>
              <a:rPr lang="ko-KR" altLang="en-US" sz="1000" dirty="0"/>
              <a:t>광케이블식 </a:t>
            </a:r>
            <a:r>
              <a:rPr lang="ko-KR" altLang="en-US" sz="1000" dirty="0" err="1"/>
              <a:t>검출부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996A2A-AB3E-F96E-6BE6-F61E876740AC}"/>
              </a:ext>
            </a:extLst>
          </p:cNvPr>
          <p:cNvSpPr txBox="1"/>
          <p:nvPr/>
        </p:nvSpPr>
        <p:spPr>
          <a:xfrm>
            <a:off x="4065930" y="2940201"/>
            <a:ext cx="2301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광통신 </a:t>
            </a:r>
            <a:r>
              <a:rPr lang="en-US" altLang="ko-KR" sz="1000" dirty="0"/>
              <a:t>(</a:t>
            </a:r>
            <a:r>
              <a:rPr lang="ko-KR" altLang="en-US" sz="1000" dirty="0"/>
              <a:t>수신기당 최대 </a:t>
            </a:r>
            <a:r>
              <a:rPr lang="en-US" altLang="ko-KR" sz="1000" dirty="0"/>
              <a:t>2</a:t>
            </a:r>
            <a:r>
              <a:rPr lang="ko-KR" altLang="en-US" sz="1000" dirty="0"/>
              <a:t>개 연결가능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C17DFC-D51F-C115-BF48-D3E975A699A7}"/>
              </a:ext>
            </a:extLst>
          </p:cNvPr>
          <p:cNvSpPr txBox="1"/>
          <p:nvPr/>
        </p:nvSpPr>
        <p:spPr>
          <a:xfrm>
            <a:off x="745374" y="3481399"/>
            <a:ext cx="14605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전력구용 화재수신기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4A54FEE-9784-3DC9-D4F6-FBB55C8A940D}"/>
              </a:ext>
            </a:extLst>
          </p:cNvPr>
          <p:cNvGrpSpPr/>
          <p:nvPr/>
        </p:nvGrpSpPr>
        <p:grpSpPr>
          <a:xfrm>
            <a:off x="2215039" y="4587959"/>
            <a:ext cx="3983927" cy="1723479"/>
            <a:chOff x="827584" y="4509120"/>
            <a:chExt cx="3983927" cy="1723479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08745B7-3E38-9797-E04F-A5E50EAF4B20}"/>
                </a:ext>
              </a:extLst>
            </p:cNvPr>
            <p:cNvGrpSpPr/>
            <p:nvPr/>
          </p:nvGrpSpPr>
          <p:grpSpPr>
            <a:xfrm>
              <a:off x="827584" y="4863424"/>
              <a:ext cx="3983927" cy="1088919"/>
              <a:chOff x="1625959" y="5104255"/>
              <a:chExt cx="4063822" cy="1101764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755F02BF-57A1-C51D-EE3E-24452F4BB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5281" y="5186844"/>
                <a:ext cx="790575" cy="1019175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0F4F3C8-0EED-8B35-A79F-FA555C8935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5856" y="5243104"/>
                <a:ext cx="957938" cy="887845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F6F924E-7BD2-582D-BDF4-9679AD1EC1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25959" y="5267888"/>
                <a:ext cx="929817" cy="878541"/>
              </a:xfrm>
              <a:prstGeom prst="rect">
                <a:avLst/>
              </a:prstGeom>
            </p:spPr>
          </p:pic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EEB14618-4762-A1A9-7FC6-CFF9785C0B65}"/>
                  </a:ext>
                </a:extLst>
              </p:cNvPr>
              <p:cNvGrpSpPr/>
              <p:nvPr/>
            </p:nvGrpSpPr>
            <p:grpSpPr>
              <a:xfrm>
                <a:off x="4264400" y="5104255"/>
                <a:ext cx="1425381" cy="1101764"/>
                <a:chOff x="4814210" y="4997132"/>
                <a:chExt cx="1425381" cy="1101764"/>
              </a:xfrm>
            </p:grpSpPr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EBA1520D-D890-1EE2-59EE-D3D9FD7311D9}"/>
                    </a:ext>
                  </a:extLst>
                </p:cNvPr>
                <p:cNvGrpSpPr/>
                <p:nvPr/>
              </p:nvGrpSpPr>
              <p:grpSpPr>
                <a:xfrm>
                  <a:off x="5874743" y="4997132"/>
                  <a:ext cx="364848" cy="1101764"/>
                  <a:chOff x="5874743" y="4997132"/>
                  <a:chExt cx="364848" cy="1101764"/>
                </a:xfrm>
              </p:grpSpPr>
              <p:pic>
                <p:nvPicPr>
                  <p:cNvPr id="9" name="그림 8">
                    <a:extLst>
                      <a:ext uri="{FF2B5EF4-FFF2-40B4-BE49-F238E27FC236}">
                        <a16:creationId xmlns:a16="http://schemas.microsoft.com/office/drawing/2014/main" id="{132EA52E-0A26-141F-0DF3-73F0F23372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874743" y="5371843"/>
                    <a:ext cx="364848" cy="727053"/>
                  </a:xfrm>
                  <a:prstGeom prst="rect">
                    <a:avLst/>
                  </a:prstGeom>
                </p:spPr>
              </p:pic>
              <p:pic>
                <p:nvPicPr>
                  <p:cNvPr id="16" name="그림 15">
                    <a:extLst>
                      <a:ext uri="{FF2B5EF4-FFF2-40B4-BE49-F238E27FC236}">
                        <a16:creationId xmlns:a16="http://schemas.microsoft.com/office/drawing/2014/main" id="{89BCF35D-E908-F48C-5F74-9568923BCE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954543" y="4997132"/>
                    <a:ext cx="249257" cy="30464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5BCB844C-62D5-7161-00D5-CB6C9E962CD7}"/>
                    </a:ext>
                  </a:extLst>
                </p:cNvPr>
                <p:cNvGrpSpPr/>
                <p:nvPr/>
              </p:nvGrpSpPr>
              <p:grpSpPr>
                <a:xfrm>
                  <a:off x="5509895" y="4997132"/>
                  <a:ext cx="364848" cy="1101764"/>
                  <a:chOff x="5874743" y="4997132"/>
                  <a:chExt cx="364848" cy="1101764"/>
                </a:xfrm>
              </p:grpSpPr>
              <p:pic>
                <p:nvPicPr>
                  <p:cNvPr id="19" name="그림 18">
                    <a:extLst>
                      <a:ext uri="{FF2B5EF4-FFF2-40B4-BE49-F238E27FC236}">
                        <a16:creationId xmlns:a16="http://schemas.microsoft.com/office/drawing/2014/main" id="{839E15B3-B1A9-B7CE-A82D-9A4133BE75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874743" y="5371843"/>
                    <a:ext cx="364848" cy="727053"/>
                  </a:xfrm>
                  <a:prstGeom prst="rect">
                    <a:avLst/>
                  </a:prstGeom>
                </p:spPr>
              </p:pic>
              <p:pic>
                <p:nvPicPr>
                  <p:cNvPr id="20" name="그림 19">
                    <a:extLst>
                      <a:ext uri="{FF2B5EF4-FFF2-40B4-BE49-F238E27FC236}">
                        <a16:creationId xmlns:a16="http://schemas.microsoft.com/office/drawing/2014/main" id="{0A2CB26D-937C-9ACB-1B86-501E3295A7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954543" y="4997132"/>
                    <a:ext cx="249257" cy="30464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0411A25A-BA42-CD20-190A-EE7FB6D6FDBF}"/>
                    </a:ext>
                  </a:extLst>
                </p:cNvPr>
                <p:cNvGrpSpPr/>
                <p:nvPr/>
              </p:nvGrpSpPr>
              <p:grpSpPr>
                <a:xfrm>
                  <a:off x="5179058" y="4997132"/>
                  <a:ext cx="364848" cy="1101764"/>
                  <a:chOff x="5874743" y="4997132"/>
                  <a:chExt cx="364848" cy="1101764"/>
                </a:xfrm>
              </p:grpSpPr>
              <p:pic>
                <p:nvPicPr>
                  <p:cNvPr id="22" name="그림 21">
                    <a:extLst>
                      <a:ext uri="{FF2B5EF4-FFF2-40B4-BE49-F238E27FC236}">
                        <a16:creationId xmlns:a16="http://schemas.microsoft.com/office/drawing/2014/main" id="{6ABFCCF5-CB6E-F4A2-A74F-B564902A45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874743" y="5371843"/>
                    <a:ext cx="364848" cy="727053"/>
                  </a:xfrm>
                  <a:prstGeom prst="rect">
                    <a:avLst/>
                  </a:prstGeom>
                </p:spPr>
              </p:pic>
              <p:pic>
                <p:nvPicPr>
                  <p:cNvPr id="23" name="그림 22">
                    <a:extLst>
                      <a:ext uri="{FF2B5EF4-FFF2-40B4-BE49-F238E27FC236}">
                        <a16:creationId xmlns:a16="http://schemas.microsoft.com/office/drawing/2014/main" id="{F8E678F7-B3F9-C025-D20F-B8C1927E1C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954543" y="4997132"/>
                    <a:ext cx="249257" cy="30464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E6FC2B12-0390-D821-9E58-EC6F64BDA0A6}"/>
                    </a:ext>
                  </a:extLst>
                </p:cNvPr>
                <p:cNvGrpSpPr/>
                <p:nvPr/>
              </p:nvGrpSpPr>
              <p:grpSpPr>
                <a:xfrm>
                  <a:off x="4814210" y="4997132"/>
                  <a:ext cx="364848" cy="1101764"/>
                  <a:chOff x="5874743" y="4997132"/>
                  <a:chExt cx="364848" cy="1101764"/>
                </a:xfrm>
              </p:grpSpPr>
              <p:pic>
                <p:nvPicPr>
                  <p:cNvPr id="25" name="그림 24">
                    <a:extLst>
                      <a:ext uri="{FF2B5EF4-FFF2-40B4-BE49-F238E27FC236}">
                        <a16:creationId xmlns:a16="http://schemas.microsoft.com/office/drawing/2014/main" id="{E6C9B9ED-1892-7301-43EA-E7B61C52B4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874743" y="5371843"/>
                    <a:ext cx="364848" cy="727053"/>
                  </a:xfrm>
                  <a:prstGeom prst="rect">
                    <a:avLst/>
                  </a:prstGeom>
                </p:spPr>
              </p:pic>
              <p:pic>
                <p:nvPicPr>
                  <p:cNvPr id="26" name="그림 25">
                    <a:extLst>
                      <a:ext uri="{FF2B5EF4-FFF2-40B4-BE49-F238E27FC236}">
                        <a16:creationId xmlns:a16="http://schemas.microsoft.com/office/drawing/2014/main" id="{9DD75A96-AD8A-ED37-C342-4E453782EC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954543" y="4997132"/>
                    <a:ext cx="249257" cy="304647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93AF6C33-041E-FFAB-418A-6C50B20B196B}"/>
                </a:ext>
              </a:extLst>
            </p:cNvPr>
            <p:cNvGrpSpPr/>
            <p:nvPr/>
          </p:nvGrpSpPr>
          <p:grpSpPr>
            <a:xfrm>
              <a:off x="1283352" y="4509120"/>
              <a:ext cx="2846151" cy="295145"/>
              <a:chOff x="1283352" y="4509120"/>
              <a:chExt cx="2846151" cy="295145"/>
            </a:xfrm>
          </p:grpSpPr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7589F916-F17A-56F9-4967-D557DA8F526E}"/>
                  </a:ext>
                </a:extLst>
              </p:cNvPr>
              <p:cNvCxnSpPr/>
              <p:nvPr/>
            </p:nvCxnSpPr>
            <p:spPr>
              <a:xfrm>
                <a:off x="1283352" y="4509120"/>
                <a:ext cx="2846151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55AF8215-0B03-E69A-056D-C76EEE7D83AE}"/>
                  </a:ext>
                </a:extLst>
              </p:cNvPr>
              <p:cNvCxnSpPr/>
              <p:nvPr/>
            </p:nvCxnSpPr>
            <p:spPr>
              <a:xfrm>
                <a:off x="1283352" y="4509120"/>
                <a:ext cx="0" cy="28803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95B48089-EBE9-1D1F-72DA-02B656F5554D}"/>
                  </a:ext>
                </a:extLst>
              </p:cNvPr>
              <p:cNvCxnSpPr/>
              <p:nvPr/>
            </p:nvCxnSpPr>
            <p:spPr>
              <a:xfrm>
                <a:off x="2096446" y="4516233"/>
                <a:ext cx="0" cy="28803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31DEFD44-562F-2F43-0376-8D86C99764D5}"/>
                  </a:ext>
                </a:extLst>
              </p:cNvPr>
              <p:cNvCxnSpPr/>
              <p:nvPr/>
            </p:nvCxnSpPr>
            <p:spPr>
              <a:xfrm>
                <a:off x="2896017" y="4514638"/>
                <a:ext cx="0" cy="28803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3C1CE191-947A-434B-7327-6598B59E7898}"/>
                  </a:ext>
                </a:extLst>
              </p:cNvPr>
              <p:cNvCxnSpPr/>
              <p:nvPr/>
            </p:nvCxnSpPr>
            <p:spPr>
              <a:xfrm>
                <a:off x="4115649" y="4516233"/>
                <a:ext cx="0" cy="28803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793055-EA92-E1D8-45F3-D1C3B1A5C653}"/>
                </a:ext>
              </a:extLst>
            </p:cNvPr>
            <p:cNvSpPr txBox="1"/>
            <p:nvPr/>
          </p:nvSpPr>
          <p:spPr>
            <a:xfrm>
              <a:off x="955526" y="5994654"/>
              <a:ext cx="6556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/>
                <a:t>지구경종</a:t>
              </a:r>
              <a:endParaRPr lang="ko-KR" altLang="en-US" sz="9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8A88AB2-3594-6368-DDE3-B2A948F4375A}"/>
                </a:ext>
              </a:extLst>
            </p:cNvPr>
            <p:cNvSpPr txBox="1"/>
            <p:nvPr/>
          </p:nvSpPr>
          <p:spPr>
            <a:xfrm>
              <a:off x="1713088" y="6001767"/>
              <a:ext cx="6556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 err="1"/>
                <a:t>방화문</a:t>
              </a:r>
              <a:endParaRPr lang="ko-KR" altLang="en-US" sz="9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3CF473-500A-D7DF-33FB-70B1DE0E6534}"/>
                </a:ext>
              </a:extLst>
            </p:cNvPr>
            <p:cNvSpPr txBox="1"/>
            <p:nvPr/>
          </p:nvSpPr>
          <p:spPr>
            <a:xfrm>
              <a:off x="2555776" y="5990835"/>
              <a:ext cx="6556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환풍기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EF207A9-B591-3862-1046-FD3E57004E60}"/>
                </a:ext>
              </a:extLst>
            </p:cNvPr>
            <p:cNvSpPr txBox="1"/>
            <p:nvPr/>
          </p:nvSpPr>
          <p:spPr>
            <a:xfrm>
              <a:off x="3719257" y="6001767"/>
              <a:ext cx="6556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소화장치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2CC7900-4FB0-868C-385A-9D84A47B86E1}"/>
              </a:ext>
            </a:extLst>
          </p:cNvPr>
          <p:cNvGrpSpPr/>
          <p:nvPr/>
        </p:nvGrpSpPr>
        <p:grpSpPr>
          <a:xfrm>
            <a:off x="1404137" y="3702450"/>
            <a:ext cx="2879336" cy="1022892"/>
            <a:chOff x="1475656" y="3797749"/>
            <a:chExt cx="1370642" cy="755508"/>
          </a:xfrm>
        </p:grpSpPr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38F9052F-526A-BF32-CE7A-F5A11B3DA376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3797749"/>
              <a:ext cx="0" cy="36004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7B30E9E3-4EA8-AF13-5186-5C4868CADDE5}"/>
                </a:ext>
              </a:extLst>
            </p:cNvPr>
            <p:cNvCxnSpPr>
              <a:cxnSpLocks/>
            </p:cNvCxnSpPr>
            <p:nvPr/>
          </p:nvCxnSpPr>
          <p:spPr>
            <a:xfrm>
              <a:off x="1485581" y="4157789"/>
              <a:ext cx="1358227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1336E54-7C96-E222-793B-23ADDF6582A7}"/>
                </a:ext>
              </a:extLst>
            </p:cNvPr>
            <p:cNvCxnSpPr>
              <a:cxnSpLocks/>
            </p:cNvCxnSpPr>
            <p:nvPr/>
          </p:nvCxnSpPr>
          <p:spPr>
            <a:xfrm>
              <a:off x="2846298" y="4154598"/>
              <a:ext cx="0" cy="39865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60E4EA-A677-5BD5-54A5-677374B94013}"/>
              </a:ext>
            </a:extLst>
          </p:cNvPr>
          <p:cNvGrpSpPr/>
          <p:nvPr/>
        </p:nvGrpSpPr>
        <p:grpSpPr>
          <a:xfrm rot="10800000" flipV="1">
            <a:off x="3483900" y="3401300"/>
            <a:ext cx="1520145" cy="282293"/>
            <a:chOff x="323528" y="3319227"/>
            <a:chExt cx="1430011" cy="219546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5D30E6C5-03E6-9A6A-AF91-4DA9161C6BB7}"/>
                </a:ext>
              </a:extLst>
            </p:cNvPr>
            <p:cNvCxnSpPr/>
            <p:nvPr/>
          </p:nvCxnSpPr>
          <p:spPr>
            <a:xfrm>
              <a:off x="323528" y="3538773"/>
              <a:ext cx="11521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BD95CD9E-071D-4439-BAB1-E7A96235F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6520" y="3319227"/>
              <a:ext cx="297019" cy="2195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42056DE-A5D8-C9B7-5658-6DDFA1D3ACBB}"/>
              </a:ext>
            </a:extLst>
          </p:cNvPr>
          <p:cNvGrpSpPr/>
          <p:nvPr/>
        </p:nvGrpSpPr>
        <p:grpSpPr>
          <a:xfrm rot="10800000" flipV="1">
            <a:off x="6938748" y="3414714"/>
            <a:ext cx="1520145" cy="282293"/>
            <a:chOff x="323528" y="3319227"/>
            <a:chExt cx="1430011" cy="219546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7CB4BF8-E624-C6FB-1F16-032A8F1325A7}"/>
                </a:ext>
              </a:extLst>
            </p:cNvPr>
            <p:cNvCxnSpPr/>
            <p:nvPr/>
          </p:nvCxnSpPr>
          <p:spPr>
            <a:xfrm>
              <a:off x="323528" y="3538773"/>
              <a:ext cx="11521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8C1B674-CE1C-E16E-9661-AE6000A47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6520" y="3319227"/>
              <a:ext cx="297019" cy="2195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3A256FC-1BC2-7901-3E3F-D5013CD9A76B}"/>
              </a:ext>
            </a:extLst>
          </p:cNvPr>
          <p:cNvSpPr txBox="1"/>
          <p:nvPr/>
        </p:nvSpPr>
        <p:spPr>
          <a:xfrm>
            <a:off x="3400118" y="3705987"/>
            <a:ext cx="2099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광케이블식 </a:t>
            </a:r>
            <a:r>
              <a:rPr lang="ko-KR" altLang="en-US" sz="9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감지선</a:t>
            </a:r>
            <a:r>
              <a:rPr lang="en-US" altLang="ko-KR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(FOS) </a:t>
            </a:r>
            <a:r>
              <a:rPr lang="ko-KR" altLang="en-US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1.5Km</a:t>
            </a:r>
            <a:endParaRPr lang="ko-KR" altLang="en-US" sz="16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3D5EB9-2FCD-4143-96EE-298AD0E3A7DA}"/>
              </a:ext>
            </a:extLst>
          </p:cNvPr>
          <p:cNvSpPr txBox="1"/>
          <p:nvPr/>
        </p:nvSpPr>
        <p:spPr>
          <a:xfrm>
            <a:off x="6843032" y="3732767"/>
            <a:ext cx="2099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광케이블식 </a:t>
            </a:r>
            <a:r>
              <a:rPr lang="ko-KR" altLang="en-US" sz="90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감지선</a:t>
            </a:r>
            <a:r>
              <a:rPr lang="en-US" altLang="ko-KR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(FOS) </a:t>
            </a:r>
            <a:r>
              <a:rPr lang="ko-KR" altLang="en-US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9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1.5Km</a:t>
            </a:r>
            <a:endParaRPr lang="ko-KR" altLang="en-US" sz="160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041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418D-4CC9-B344-25A9-BC93BB29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2. </a:t>
            </a:r>
            <a:r>
              <a:rPr lang="ko-KR" altLang="en-US" sz="2200" dirty="0"/>
              <a:t>통합수신기 및 </a:t>
            </a:r>
            <a:r>
              <a:rPr lang="ko-KR" altLang="en-US" sz="2200" dirty="0" err="1"/>
              <a:t>스카다확장장치</a:t>
            </a:r>
            <a:r>
              <a:rPr lang="ko-KR" altLang="en-US" sz="2200" dirty="0"/>
              <a:t> </a:t>
            </a:r>
            <a:r>
              <a:rPr lang="en-US" altLang="ko-KR" sz="2200" dirty="0"/>
              <a:t>(</a:t>
            </a:r>
            <a:r>
              <a:rPr lang="ko-KR" altLang="en-US" sz="2200" dirty="0"/>
              <a:t>유선</a:t>
            </a:r>
            <a:r>
              <a:rPr lang="en-US" altLang="ko-KR" sz="2200" dirty="0"/>
              <a:t>) </a:t>
            </a:r>
            <a:r>
              <a:rPr lang="ko-KR" altLang="en-US" sz="2200" dirty="0"/>
              <a:t>구성도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0C5AE4-2E11-B991-40BD-606036A336E3}"/>
              </a:ext>
            </a:extLst>
          </p:cNvPr>
          <p:cNvSpPr txBox="1"/>
          <p:nvPr/>
        </p:nvSpPr>
        <p:spPr>
          <a:xfrm>
            <a:off x="5522636" y="6191650"/>
            <a:ext cx="123555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한전 변전소</a:t>
            </a:r>
            <a:endParaRPr lang="en-US" altLang="ko-KR" sz="1100" b="1" dirty="0"/>
          </a:p>
          <a:p>
            <a:pPr algn="ctr"/>
            <a:r>
              <a:rPr lang="ko-KR" altLang="en-US" sz="1100" b="1" dirty="0" err="1"/>
              <a:t>스카다</a:t>
            </a:r>
            <a:r>
              <a:rPr lang="ko-KR" altLang="en-US" sz="1100" b="1" dirty="0"/>
              <a:t> 시스템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741C070-9621-02BE-320B-3CA5090EBD29}"/>
              </a:ext>
            </a:extLst>
          </p:cNvPr>
          <p:cNvGrpSpPr/>
          <p:nvPr/>
        </p:nvGrpSpPr>
        <p:grpSpPr>
          <a:xfrm>
            <a:off x="3132379" y="2964300"/>
            <a:ext cx="1655757" cy="1616827"/>
            <a:chOff x="446556" y="3562833"/>
            <a:chExt cx="2909796" cy="27893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ED6155-83C1-6BFE-F0A9-1CCAE36D9AAC}"/>
                </a:ext>
              </a:extLst>
            </p:cNvPr>
            <p:cNvSpPr txBox="1"/>
            <p:nvPr/>
          </p:nvSpPr>
          <p:spPr>
            <a:xfrm>
              <a:off x="446556" y="5980490"/>
              <a:ext cx="1225996" cy="37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/>
                <a:t>통합수신기</a:t>
              </a: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A3F57DD-2D44-CCFD-D886-A3577CDA60D9}"/>
                </a:ext>
              </a:extLst>
            </p:cNvPr>
            <p:cNvCxnSpPr>
              <a:cxnSpLocks/>
            </p:cNvCxnSpPr>
            <p:nvPr/>
          </p:nvCxnSpPr>
          <p:spPr>
            <a:xfrm>
              <a:off x="1834212" y="4447314"/>
              <a:ext cx="591352" cy="12628"/>
            </a:xfrm>
            <a:prstGeom prst="line">
              <a:avLst/>
            </a:prstGeom>
            <a:ln w="22225">
              <a:solidFill>
                <a:srgbClr val="0070C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53499F-3EE0-92F6-B41D-97128B5AF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96" y="3915631"/>
              <a:ext cx="1358831" cy="2011285"/>
            </a:xfrm>
            <a:prstGeom prst="rect">
              <a:avLst/>
            </a:prstGeom>
          </p:spPr>
        </p:pic>
        <p:pic>
          <p:nvPicPr>
            <p:cNvPr id="13" name="Picture 16">
              <a:extLst>
                <a:ext uri="{FF2B5EF4-FFF2-40B4-BE49-F238E27FC236}">
                  <a16:creationId xmlns:a16="http://schemas.microsoft.com/office/drawing/2014/main" id="{23EA6885-DA7F-2F5E-F2CA-18D289262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9617" y="3562833"/>
              <a:ext cx="976735" cy="1348449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2F5FA5-8BF8-B5B7-03A5-221C72248147}"/>
                </a:ext>
              </a:extLst>
            </p:cNvPr>
            <p:cNvSpPr txBox="1"/>
            <p:nvPr/>
          </p:nvSpPr>
          <p:spPr>
            <a:xfrm>
              <a:off x="1665880" y="4872011"/>
              <a:ext cx="1427475" cy="371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/>
                <a:t>무선통신장치</a:t>
              </a:r>
              <a:endParaRPr lang="ko-KR" altLang="en-US" sz="700" b="1" dirty="0"/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08FC73-21DD-E147-D8A1-06227A0D1205}"/>
              </a:ext>
            </a:extLst>
          </p:cNvPr>
          <p:cNvSpPr/>
          <p:nvPr/>
        </p:nvSpPr>
        <p:spPr>
          <a:xfrm>
            <a:off x="2656174" y="2929944"/>
            <a:ext cx="2564437" cy="17241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ECCB835-567F-C330-F71E-33410C5D21FD}"/>
              </a:ext>
            </a:extLst>
          </p:cNvPr>
          <p:cNvCxnSpPr>
            <a:cxnSpLocks/>
          </p:cNvCxnSpPr>
          <p:nvPr/>
        </p:nvCxnSpPr>
        <p:spPr>
          <a:xfrm>
            <a:off x="1139774" y="2082006"/>
            <a:ext cx="0" cy="1438717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3312786-1F21-5A1F-7300-FE328726C90F}"/>
              </a:ext>
            </a:extLst>
          </p:cNvPr>
          <p:cNvCxnSpPr>
            <a:cxnSpLocks/>
            <a:stCxn id="64" idx="2"/>
            <a:endCxn id="73" idx="0"/>
          </p:cNvCxnSpPr>
          <p:nvPr/>
        </p:nvCxnSpPr>
        <p:spPr>
          <a:xfrm>
            <a:off x="1122872" y="4019609"/>
            <a:ext cx="17649" cy="1252022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8E84AD1-6121-819E-4CFE-82A36B370765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3566153" y="2088454"/>
            <a:ext cx="9079" cy="1124522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84AD92A-874B-A290-2393-80FD613307A4}"/>
              </a:ext>
            </a:extLst>
          </p:cNvPr>
          <p:cNvCxnSpPr>
            <a:cxnSpLocks/>
          </p:cNvCxnSpPr>
          <p:nvPr/>
        </p:nvCxnSpPr>
        <p:spPr>
          <a:xfrm flipH="1">
            <a:off x="3568875" y="4547754"/>
            <a:ext cx="4758" cy="886362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05677ED-281F-5923-A385-DCD876B041CA}"/>
              </a:ext>
            </a:extLst>
          </p:cNvPr>
          <p:cNvCxnSpPr>
            <a:cxnSpLocks/>
          </p:cNvCxnSpPr>
          <p:nvPr/>
        </p:nvCxnSpPr>
        <p:spPr>
          <a:xfrm>
            <a:off x="1139774" y="1124744"/>
            <a:ext cx="2416783" cy="0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8D0C2FE-FF93-B555-F429-CF43C2F498B7}"/>
              </a:ext>
            </a:extLst>
          </p:cNvPr>
          <p:cNvCxnSpPr>
            <a:cxnSpLocks/>
          </p:cNvCxnSpPr>
          <p:nvPr/>
        </p:nvCxnSpPr>
        <p:spPr>
          <a:xfrm>
            <a:off x="1148680" y="1151017"/>
            <a:ext cx="0" cy="332620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44F4E8D-FE98-DDF2-E337-19FF3C446CC0}"/>
              </a:ext>
            </a:extLst>
          </p:cNvPr>
          <p:cNvCxnSpPr>
            <a:cxnSpLocks/>
          </p:cNvCxnSpPr>
          <p:nvPr/>
        </p:nvCxnSpPr>
        <p:spPr>
          <a:xfrm>
            <a:off x="3565608" y="1127685"/>
            <a:ext cx="8693" cy="339867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D50D25F-554F-D643-FF5C-750F3EE81545}"/>
              </a:ext>
            </a:extLst>
          </p:cNvPr>
          <p:cNvCxnSpPr>
            <a:cxnSpLocks/>
          </p:cNvCxnSpPr>
          <p:nvPr/>
        </p:nvCxnSpPr>
        <p:spPr>
          <a:xfrm>
            <a:off x="1155358" y="6352304"/>
            <a:ext cx="2401199" cy="0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A693062-13AE-8122-DED5-1B6FDB77A76E}"/>
              </a:ext>
            </a:extLst>
          </p:cNvPr>
          <p:cNvCxnSpPr>
            <a:cxnSpLocks/>
            <a:stCxn id="73" idx="2"/>
          </p:cNvCxnSpPr>
          <p:nvPr/>
        </p:nvCxnSpPr>
        <p:spPr>
          <a:xfrm flipH="1">
            <a:off x="1139774" y="5894604"/>
            <a:ext cx="747" cy="480518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F8726A0-4F69-672C-06C1-9CC637AC4445}"/>
              </a:ext>
            </a:extLst>
          </p:cNvPr>
          <p:cNvCxnSpPr>
            <a:cxnSpLocks/>
            <a:stCxn id="81" idx="2"/>
          </p:cNvCxnSpPr>
          <p:nvPr/>
        </p:nvCxnSpPr>
        <p:spPr>
          <a:xfrm>
            <a:off x="3569390" y="5891817"/>
            <a:ext cx="4243" cy="483305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A3A017-C300-1E1C-3276-A7EBE2D39D9C}"/>
              </a:ext>
            </a:extLst>
          </p:cNvPr>
          <p:cNvSpPr txBox="1"/>
          <p:nvPr/>
        </p:nvSpPr>
        <p:spPr>
          <a:xfrm>
            <a:off x="3887468" y="2633696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감시제어실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91674BC-B379-FB24-B5CB-D3FCA135A21E}"/>
              </a:ext>
            </a:extLst>
          </p:cNvPr>
          <p:cNvGrpSpPr/>
          <p:nvPr/>
        </p:nvGrpSpPr>
        <p:grpSpPr>
          <a:xfrm>
            <a:off x="2694801" y="1281821"/>
            <a:ext cx="2018535" cy="1077333"/>
            <a:chOff x="3126310" y="1425837"/>
            <a:chExt cx="2018535" cy="1077333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CE635CDA-F984-F428-A231-1704D781A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075" y="1609497"/>
              <a:ext cx="413174" cy="622973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F792520-563F-AA1B-881B-066E57356710}"/>
                </a:ext>
              </a:extLst>
            </p:cNvPr>
            <p:cNvSpPr/>
            <p:nvPr/>
          </p:nvSpPr>
          <p:spPr>
            <a:xfrm>
              <a:off x="3126310" y="1425837"/>
              <a:ext cx="1294659" cy="1077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65B688-817B-1D7F-E28A-83BD862F7E90}"/>
                </a:ext>
              </a:extLst>
            </p:cNvPr>
            <p:cNvSpPr txBox="1"/>
            <p:nvPr/>
          </p:nvSpPr>
          <p:spPr>
            <a:xfrm>
              <a:off x="4383098" y="176243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/>
                <a:t>전력구용 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로컬수신기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4DAF86A0-2F5A-9C81-F663-12873E43D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3179" y="1750694"/>
              <a:ext cx="387460" cy="481776"/>
            </a:xfrm>
            <a:prstGeom prst="rect">
              <a:avLst/>
            </a:prstGeom>
          </p:spPr>
        </p:pic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A1860F8-5A84-5C5E-1566-DBA623F3451C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3700639" y="1991582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1478A42-A6C1-21D5-31D2-E5252FDF628A}"/>
                </a:ext>
              </a:extLst>
            </p:cNvPr>
            <p:cNvSpPr txBox="1"/>
            <p:nvPr/>
          </p:nvSpPr>
          <p:spPr>
            <a:xfrm>
              <a:off x="3225406" y="1518720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04BBEBE-B8ED-88D3-23B1-04E60E0C1FE1}"/>
              </a:ext>
            </a:extLst>
          </p:cNvPr>
          <p:cNvGrpSpPr/>
          <p:nvPr/>
        </p:nvGrpSpPr>
        <p:grpSpPr>
          <a:xfrm>
            <a:off x="269169" y="1313572"/>
            <a:ext cx="2018535" cy="1077333"/>
            <a:chOff x="3126310" y="1425837"/>
            <a:chExt cx="2018535" cy="1077333"/>
          </a:xfrm>
        </p:grpSpPr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58676571-CBDF-6066-C257-C7D9B2324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075" y="1609497"/>
              <a:ext cx="413174" cy="622973"/>
            </a:xfrm>
            <a:prstGeom prst="rect">
              <a:avLst/>
            </a:prstGeom>
          </p:spPr>
        </p:pic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D1CE211-C332-406C-E61D-7ED371E90D22}"/>
                </a:ext>
              </a:extLst>
            </p:cNvPr>
            <p:cNvSpPr/>
            <p:nvPr/>
          </p:nvSpPr>
          <p:spPr>
            <a:xfrm>
              <a:off x="3126310" y="1425837"/>
              <a:ext cx="1294659" cy="1077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ED039A-A9E6-9CAC-3894-4ED581C4C9E1}"/>
                </a:ext>
              </a:extLst>
            </p:cNvPr>
            <p:cNvSpPr txBox="1"/>
            <p:nvPr/>
          </p:nvSpPr>
          <p:spPr>
            <a:xfrm>
              <a:off x="4383098" y="176243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/>
                <a:t>전력구용 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로컬수신기</a:t>
              </a: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6C902F7-A900-3BCA-1580-DD5C1E0F8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3179" y="1750694"/>
              <a:ext cx="387460" cy="481776"/>
            </a:xfrm>
            <a:prstGeom prst="rect">
              <a:avLst/>
            </a:prstGeom>
          </p:spPr>
        </p:pic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09966268-471B-4770-2352-1CEC0694051E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3700639" y="1991582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66B5DEE-5BB5-37C9-33F3-102C102C3F54}"/>
                </a:ext>
              </a:extLst>
            </p:cNvPr>
            <p:cNvSpPr txBox="1"/>
            <p:nvPr/>
          </p:nvSpPr>
          <p:spPr>
            <a:xfrm>
              <a:off x="3225406" y="1518720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75FE35D-90A8-3CD6-F0E2-DE7F6DD839B2}"/>
              </a:ext>
            </a:extLst>
          </p:cNvPr>
          <p:cNvGrpSpPr/>
          <p:nvPr/>
        </p:nvGrpSpPr>
        <p:grpSpPr>
          <a:xfrm>
            <a:off x="251520" y="3212976"/>
            <a:ext cx="2018535" cy="1077333"/>
            <a:chOff x="3126310" y="1425837"/>
            <a:chExt cx="2018535" cy="1077333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DCE03E34-EC4A-016C-CBBC-996FEE49E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075" y="1609497"/>
              <a:ext cx="413174" cy="622973"/>
            </a:xfrm>
            <a:prstGeom prst="rect">
              <a:avLst/>
            </a:prstGeom>
          </p:spPr>
        </p:pic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3B163BE-BA05-3ACC-4C56-EAFF48BCE454}"/>
                </a:ext>
              </a:extLst>
            </p:cNvPr>
            <p:cNvSpPr/>
            <p:nvPr/>
          </p:nvSpPr>
          <p:spPr>
            <a:xfrm>
              <a:off x="3126310" y="1425837"/>
              <a:ext cx="1294659" cy="1077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4AD882-F802-6494-B0AC-E3E973C2A7E5}"/>
                </a:ext>
              </a:extLst>
            </p:cNvPr>
            <p:cNvSpPr txBox="1"/>
            <p:nvPr/>
          </p:nvSpPr>
          <p:spPr>
            <a:xfrm>
              <a:off x="4383098" y="176243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/>
                <a:t>전력구용 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로컬수신기</a:t>
              </a:r>
            </a:p>
          </p:txBody>
        </p: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18573388-F3B7-F5ED-0742-BB4414107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3179" y="1750694"/>
              <a:ext cx="387460" cy="481776"/>
            </a:xfrm>
            <a:prstGeom prst="rect">
              <a:avLst/>
            </a:prstGeom>
          </p:spPr>
        </p:pic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02FD9244-BDC3-1201-78E0-73DABD08DECB}"/>
                </a:ext>
              </a:extLst>
            </p:cNvPr>
            <p:cNvCxnSpPr>
              <a:cxnSpLocks/>
              <a:stCxn id="67" idx="3"/>
            </p:cNvCxnSpPr>
            <p:nvPr/>
          </p:nvCxnSpPr>
          <p:spPr>
            <a:xfrm>
              <a:off x="3700639" y="1991582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AA1EE86-AD62-0F85-F3BC-1D14C18BB4B1}"/>
                </a:ext>
              </a:extLst>
            </p:cNvPr>
            <p:cNvSpPr txBox="1"/>
            <p:nvPr/>
          </p:nvSpPr>
          <p:spPr>
            <a:xfrm>
              <a:off x="3225406" y="1518720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8A9D01E-B601-832F-BB4B-027CE7E48B48}"/>
              </a:ext>
            </a:extLst>
          </p:cNvPr>
          <p:cNvGrpSpPr/>
          <p:nvPr/>
        </p:nvGrpSpPr>
        <p:grpSpPr>
          <a:xfrm>
            <a:off x="269169" y="5087971"/>
            <a:ext cx="2018535" cy="1077333"/>
            <a:chOff x="3126310" y="1425837"/>
            <a:chExt cx="2018535" cy="1077333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4F01AEFF-D7B0-25A6-3F46-8EECF555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075" y="1609497"/>
              <a:ext cx="413174" cy="622973"/>
            </a:xfrm>
            <a:prstGeom prst="rect">
              <a:avLst/>
            </a:prstGeom>
          </p:spPr>
        </p:pic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5231439-A003-A3A6-1BE2-B1587A03B4EF}"/>
                </a:ext>
              </a:extLst>
            </p:cNvPr>
            <p:cNvSpPr/>
            <p:nvPr/>
          </p:nvSpPr>
          <p:spPr>
            <a:xfrm>
              <a:off x="3126310" y="1425837"/>
              <a:ext cx="1294659" cy="1077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083B20C-C252-F9D9-1B56-E6DC3000B137}"/>
                </a:ext>
              </a:extLst>
            </p:cNvPr>
            <p:cNvSpPr txBox="1"/>
            <p:nvPr/>
          </p:nvSpPr>
          <p:spPr>
            <a:xfrm>
              <a:off x="4383098" y="176243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/>
                <a:t>전력구용 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로컬수신기</a:t>
              </a: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A6400E5F-4037-B5E6-5054-3D1E91600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3179" y="1750694"/>
              <a:ext cx="387460" cy="481776"/>
            </a:xfrm>
            <a:prstGeom prst="rect">
              <a:avLst/>
            </a:prstGeom>
          </p:spPr>
        </p:pic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4CB01403-BD16-5894-36C8-4C67702199C3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>
              <a:off x="3700639" y="1991582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EFF6713-BCB6-873A-8E12-62121ABFE916}"/>
                </a:ext>
              </a:extLst>
            </p:cNvPr>
            <p:cNvSpPr txBox="1"/>
            <p:nvPr/>
          </p:nvSpPr>
          <p:spPr>
            <a:xfrm>
              <a:off x="3225406" y="1518720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A1AF2B1C-BC5A-83C1-4903-C95E4B1BE508}"/>
              </a:ext>
            </a:extLst>
          </p:cNvPr>
          <p:cNvGrpSpPr/>
          <p:nvPr/>
        </p:nvGrpSpPr>
        <p:grpSpPr>
          <a:xfrm>
            <a:off x="2698038" y="5085184"/>
            <a:ext cx="2018535" cy="1077333"/>
            <a:chOff x="3126310" y="1425837"/>
            <a:chExt cx="2018535" cy="1077333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C86F0A62-ADE2-714E-6AE4-AE36303E2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075" y="1609497"/>
              <a:ext cx="413174" cy="622973"/>
            </a:xfrm>
            <a:prstGeom prst="rect">
              <a:avLst/>
            </a:prstGeom>
          </p:spPr>
        </p:pic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A35C776-D4EE-4600-32E4-9BE5007139A7}"/>
                </a:ext>
              </a:extLst>
            </p:cNvPr>
            <p:cNvSpPr/>
            <p:nvPr/>
          </p:nvSpPr>
          <p:spPr>
            <a:xfrm>
              <a:off x="3126310" y="1425837"/>
              <a:ext cx="1294659" cy="1077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3773813-E38D-5034-3F1D-E99EFB8F613A}"/>
                </a:ext>
              </a:extLst>
            </p:cNvPr>
            <p:cNvSpPr txBox="1"/>
            <p:nvPr/>
          </p:nvSpPr>
          <p:spPr>
            <a:xfrm>
              <a:off x="4383098" y="176243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/>
                <a:t>전력구용 </a:t>
              </a:r>
              <a:endParaRPr lang="en-US" altLang="ko-KR" sz="900" dirty="0"/>
            </a:p>
            <a:p>
              <a:pPr algn="ctr"/>
              <a:r>
                <a:rPr lang="ko-KR" altLang="en-US" sz="900" dirty="0"/>
                <a:t>로컬수신기</a:t>
              </a:r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F33B1AE5-523F-A957-BE48-255BAC278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3179" y="1750694"/>
              <a:ext cx="387460" cy="481776"/>
            </a:xfrm>
            <a:prstGeom prst="rect">
              <a:avLst/>
            </a:prstGeom>
          </p:spPr>
        </p:pic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AF17679A-5776-338C-304E-EF1C43D34045}"/>
                </a:ext>
              </a:extLst>
            </p:cNvPr>
            <p:cNvCxnSpPr>
              <a:cxnSpLocks/>
              <a:stCxn id="84" idx="3"/>
            </p:cNvCxnSpPr>
            <p:nvPr/>
          </p:nvCxnSpPr>
          <p:spPr>
            <a:xfrm>
              <a:off x="3700639" y="1991582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A7AD68A-C813-5FD0-3E30-8AA84496BC83}"/>
                </a:ext>
              </a:extLst>
            </p:cNvPr>
            <p:cNvSpPr txBox="1"/>
            <p:nvPr/>
          </p:nvSpPr>
          <p:spPr>
            <a:xfrm>
              <a:off x="3225406" y="1518720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6AF247D-6356-2A6E-7A9F-6C089A01885A}"/>
              </a:ext>
            </a:extLst>
          </p:cNvPr>
          <p:cNvSpPr/>
          <p:nvPr/>
        </p:nvSpPr>
        <p:spPr>
          <a:xfrm>
            <a:off x="5218760" y="1847566"/>
            <a:ext cx="1262190" cy="4280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소방본부</a:t>
            </a:r>
            <a:endParaRPr lang="en-US" altLang="ko-KR" sz="1100" dirty="0"/>
          </a:p>
          <a:p>
            <a:pPr algn="ctr"/>
            <a:r>
              <a:rPr lang="en-US" altLang="ko-KR" sz="1100" dirty="0"/>
              <a:t>119</a:t>
            </a:r>
            <a:r>
              <a:rPr lang="ko-KR" altLang="en-US" sz="1100" dirty="0"/>
              <a:t>종합상황실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7FFB5975-8F9E-DFA0-6C2B-8DF223E335A2}"/>
              </a:ext>
            </a:extLst>
          </p:cNvPr>
          <p:cNvGrpSpPr/>
          <p:nvPr/>
        </p:nvGrpSpPr>
        <p:grpSpPr>
          <a:xfrm>
            <a:off x="6467996" y="939808"/>
            <a:ext cx="2177339" cy="1769112"/>
            <a:chOff x="6305067" y="1427322"/>
            <a:chExt cx="2488371" cy="1955687"/>
          </a:xfrm>
        </p:grpSpPr>
        <p:pic>
          <p:nvPicPr>
            <p:cNvPr id="90" name="그림 89" descr="텍스트이(가) 표시된 사진&#10;&#10;자동 생성된 설명">
              <a:extLst>
                <a:ext uri="{FF2B5EF4-FFF2-40B4-BE49-F238E27FC236}">
                  <a16:creationId xmlns:a16="http://schemas.microsoft.com/office/drawing/2014/main" id="{DA34563F-3E0D-FB82-7291-67A3A95E8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8829" y="1427322"/>
              <a:ext cx="2444609" cy="1955687"/>
            </a:xfrm>
            <a:prstGeom prst="rect">
              <a:avLst/>
            </a:prstGeom>
          </p:spPr>
        </p:pic>
        <p:pic>
          <p:nvPicPr>
            <p:cNvPr id="91" name="그림 90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9FD63F23-F47E-B78F-D9B2-F99AECFBF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229164" y="1912551"/>
              <a:ext cx="502129" cy="350323"/>
            </a:xfrm>
            <a:prstGeom prst="rect">
              <a:avLst/>
            </a:prstGeom>
          </p:spPr>
        </p:pic>
      </p:grp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D678544-D2F1-873A-5301-B0D7E0021434}"/>
              </a:ext>
            </a:extLst>
          </p:cNvPr>
          <p:cNvCxnSpPr>
            <a:cxnSpLocks/>
          </p:cNvCxnSpPr>
          <p:nvPr/>
        </p:nvCxnSpPr>
        <p:spPr>
          <a:xfrm>
            <a:off x="3911314" y="4321477"/>
            <a:ext cx="1739769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9" name="그림 118" descr="클립아트이(가) 표시된 사진&#10;&#10;자동 생성된 설명">
            <a:extLst>
              <a:ext uri="{FF2B5EF4-FFF2-40B4-BE49-F238E27FC236}">
                <a16:creationId xmlns:a16="http://schemas.microsoft.com/office/drawing/2014/main" id="{64E3D6E1-66A2-A67C-0AF5-24B5CAAF90B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85143">
            <a:off x="4783135" y="3064901"/>
            <a:ext cx="390811" cy="272659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C814493C-166A-79CE-FA83-F0115E322AAE}"/>
              </a:ext>
            </a:extLst>
          </p:cNvPr>
          <p:cNvGrpSpPr/>
          <p:nvPr/>
        </p:nvGrpSpPr>
        <p:grpSpPr>
          <a:xfrm>
            <a:off x="5220072" y="3451884"/>
            <a:ext cx="1710676" cy="2641832"/>
            <a:chOff x="5292080" y="3451884"/>
            <a:chExt cx="1710676" cy="2641832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549B9407-1FDF-0F4E-40D1-3DA1724D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2080" y="5085184"/>
              <a:ext cx="1710676" cy="1008532"/>
            </a:xfrm>
            <a:prstGeom prst="rect">
              <a:avLst/>
            </a:prstGeom>
          </p:spPr>
        </p:pic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8A08994-8AA7-A8A5-070C-961C96DCB63C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6147418" y="4654095"/>
              <a:ext cx="0" cy="431089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2" name="그림 131" descr="텍스트, 전자제품이(가) 표시된 사진&#10;&#10;자동 생성된 설명">
              <a:extLst>
                <a:ext uri="{FF2B5EF4-FFF2-40B4-BE49-F238E27FC236}">
                  <a16:creationId xmlns:a16="http://schemas.microsoft.com/office/drawing/2014/main" id="{BB35FC8E-3188-C2DC-9417-56F080087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2386" y="3451884"/>
              <a:ext cx="897850" cy="1201252"/>
            </a:xfrm>
            <a:prstGeom prst="rect">
              <a:avLst/>
            </a:prstGeom>
          </p:spPr>
        </p:pic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C9D7D667-14AC-8BF5-7227-A7A49F244FA8}"/>
              </a:ext>
            </a:extLst>
          </p:cNvPr>
          <p:cNvSpPr txBox="1"/>
          <p:nvPr/>
        </p:nvSpPr>
        <p:spPr>
          <a:xfrm>
            <a:off x="5511921" y="3197408"/>
            <a:ext cx="123555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/>
              <a:t>스카다</a:t>
            </a:r>
            <a:r>
              <a:rPr lang="ko-KR" altLang="en-US" sz="1100" b="1" dirty="0"/>
              <a:t> 확장장치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298CBBD-4B27-568F-9C58-563C068E2BFE}"/>
              </a:ext>
            </a:extLst>
          </p:cNvPr>
          <p:cNvSpPr txBox="1"/>
          <p:nvPr/>
        </p:nvSpPr>
        <p:spPr>
          <a:xfrm>
            <a:off x="6172790" y="4684973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최대 </a:t>
            </a:r>
            <a:r>
              <a:rPr lang="en-US" altLang="ko-KR" sz="900" dirty="0"/>
              <a:t>32</a:t>
            </a:r>
            <a:r>
              <a:rPr lang="ko-KR" altLang="en-US" sz="900" dirty="0"/>
              <a:t>개</a:t>
            </a:r>
            <a:endParaRPr lang="en-US" altLang="ko-KR" sz="900" dirty="0"/>
          </a:p>
          <a:p>
            <a:pPr algn="ctr"/>
            <a:r>
              <a:rPr lang="ko-KR" altLang="en-US" sz="900" dirty="0"/>
              <a:t>접점 연결가능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31DCC39-B0BD-67FA-7CC1-4C25DC3ED1D2}"/>
              </a:ext>
            </a:extLst>
          </p:cNvPr>
          <p:cNvGrpSpPr/>
          <p:nvPr/>
        </p:nvGrpSpPr>
        <p:grpSpPr>
          <a:xfrm>
            <a:off x="7365113" y="5083007"/>
            <a:ext cx="1566339" cy="1478602"/>
            <a:chOff x="6186094" y="5327726"/>
            <a:chExt cx="2087744" cy="129763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E571030-D9B3-268C-E6CF-A053D57E77FF}"/>
                </a:ext>
              </a:extLst>
            </p:cNvPr>
            <p:cNvSpPr txBox="1"/>
            <p:nvPr/>
          </p:nvSpPr>
          <p:spPr>
            <a:xfrm>
              <a:off x="6947855" y="5572532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시리얼통신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E85D76A-E56A-E298-8FFF-B72580DA545C}"/>
                </a:ext>
              </a:extLst>
            </p:cNvPr>
            <p:cNvCxnSpPr>
              <a:cxnSpLocks/>
            </p:cNvCxnSpPr>
            <p:nvPr/>
          </p:nvCxnSpPr>
          <p:spPr>
            <a:xfrm>
              <a:off x="6353386" y="5691202"/>
              <a:ext cx="534857" cy="0"/>
            </a:xfrm>
            <a:prstGeom prst="line">
              <a:avLst/>
            </a:prstGeom>
            <a:ln w="222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FC9C8D0-3342-94B8-33F5-BD65F840D233}"/>
                </a:ext>
              </a:extLst>
            </p:cNvPr>
            <p:cNvCxnSpPr>
              <a:cxnSpLocks/>
            </p:cNvCxnSpPr>
            <p:nvPr/>
          </p:nvCxnSpPr>
          <p:spPr>
            <a:xfrm>
              <a:off x="6358094" y="5916195"/>
              <a:ext cx="553912" cy="0"/>
            </a:xfrm>
            <a:prstGeom prst="line">
              <a:avLst/>
            </a:prstGeom>
            <a:ln w="25400" cmpd="sng">
              <a:solidFill>
                <a:schemeClr val="tx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0F1D42-45EF-A9DC-30D1-F39B63A33526}"/>
                </a:ext>
              </a:extLst>
            </p:cNvPr>
            <p:cNvSpPr txBox="1"/>
            <p:nvPr/>
          </p:nvSpPr>
          <p:spPr>
            <a:xfrm>
              <a:off x="6912006" y="5805811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광통신망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CE5735-79A8-7093-513D-BDD506C681FD}"/>
                </a:ext>
              </a:extLst>
            </p:cNvPr>
            <p:cNvSpPr txBox="1"/>
            <p:nvPr/>
          </p:nvSpPr>
          <p:spPr>
            <a:xfrm>
              <a:off x="6983100" y="6119961"/>
              <a:ext cx="728255" cy="505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rgbClr val="FF0000"/>
                  </a:solidFill>
                </a:rPr>
                <a:t>IoT LTE </a:t>
              </a:r>
            </a:p>
            <a:p>
              <a:r>
                <a:rPr lang="ko-KR" altLang="en-US" sz="1100" b="1" dirty="0">
                  <a:solidFill>
                    <a:srgbClr val="FF0000"/>
                  </a:solidFill>
                </a:rPr>
                <a:t>무선통신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4AECAB-A290-FDFB-0D80-F24010CC93D1}"/>
                </a:ext>
              </a:extLst>
            </p:cNvPr>
            <p:cNvSpPr txBox="1"/>
            <p:nvPr/>
          </p:nvSpPr>
          <p:spPr>
            <a:xfrm>
              <a:off x="6947855" y="5332817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접점연결</a:t>
              </a: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A8C405D-BE4D-EEE6-40E9-9B4D691BF5A2}"/>
                </a:ext>
              </a:extLst>
            </p:cNvPr>
            <p:cNvCxnSpPr>
              <a:cxnSpLocks/>
            </p:cNvCxnSpPr>
            <p:nvPr/>
          </p:nvCxnSpPr>
          <p:spPr>
            <a:xfrm>
              <a:off x="6353386" y="5451487"/>
              <a:ext cx="534857" cy="0"/>
            </a:xfrm>
            <a:prstGeom prst="line">
              <a:avLst/>
            </a:prstGeom>
            <a:ln w="2222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그림 39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6292B58A-0E61-27D9-3314-FE3B931B3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426802" y="6138811"/>
              <a:ext cx="388022" cy="350323"/>
            </a:xfrm>
            <a:prstGeom prst="rect">
              <a:avLst/>
            </a:prstGeom>
          </p:spPr>
        </p:pic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00316F8-D90F-12C2-70A7-9B99CA618B7A}"/>
                </a:ext>
              </a:extLst>
            </p:cNvPr>
            <p:cNvSpPr/>
            <p:nvPr/>
          </p:nvSpPr>
          <p:spPr>
            <a:xfrm>
              <a:off x="6186094" y="5327726"/>
              <a:ext cx="2087744" cy="124184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F824BA7-385C-868C-4F04-EFAEE3A7A54A}"/>
              </a:ext>
            </a:extLst>
          </p:cNvPr>
          <p:cNvSpPr txBox="1"/>
          <p:nvPr/>
        </p:nvSpPr>
        <p:spPr>
          <a:xfrm>
            <a:off x="6774532" y="3579045"/>
            <a:ext cx="2115898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통합수신기</a:t>
            </a:r>
            <a:endParaRPr lang="en-US" altLang="ko-KR" sz="1200" b="1" dirty="0"/>
          </a:p>
          <a:p>
            <a:pPr algn="ctr"/>
            <a:r>
              <a:rPr lang="ko-KR" altLang="en-US" sz="1100" b="1" dirty="0"/>
              <a:t>전력구수신기 연결가능 수량 </a:t>
            </a:r>
            <a:r>
              <a:rPr lang="en-US" altLang="ko-KR" sz="1100" b="1" dirty="0"/>
              <a:t>: Zone 10</a:t>
            </a:r>
            <a:r>
              <a:rPr lang="ko-KR" altLang="en-US" sz="1100" b="1" dirty="0"/>
              <a:t>개까지 범위 내에서 수신기 연결가능</a:t>
            </a:r>
          </a:p>
        </p:txBody>
      </p:sp>
    </p:spTree>
    <p:extLst>
      <p:ext uri="{BB962C8B-B14F-4D97-AF65-F5344CB8AC3E}">
        <p14:creationId xmlns:p14="http://schemas.microsoft.com/office/powerpoint/2010/main" val="372922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418D-4CC9-B344-25A9-BC93BB29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3. IMS</a:t>
            </a:r>
            <a:r>
              <a:rPr lang="ko-KR" altLang="en-US" sz="2200" dirty="0"/>
              <a:t> 및 </a:t>
            </a:r>
            <a:r>
              <a:rPr lang="ko-KR" altLang="en-US" sz="2200" dirty="0" err="1"/>
              <a:t>스카다확장장치</a:t>
            </a:r>
            <a:r>
              <a:rPr lang="ko-KR" altLang="en-US" sz="2200" dirty="0"/>
              <a:t> </a:t>
            </a:r>
            <a:r>
              <a:rPr lang="en-US" altLang="ko-KR" sz="2200" dirty="0"/>
              <a:t>(</a:t>
            </a:r>
            <a:r>
              <a:rPr lang="ko-KR" altLang="en-US" sz="2200" dirty="0"/>
              <a:t>유</a:t>
            </a:r>
            <a:r>
              <a:rPr lang="en-US" altLang="ko-KR" sz="2200" dirty="0"/>
              <a:t>/</a:t>
            </a:r>
            <a:r>
              <a:rPr lang="ko-KR" altLang="en-US" sz="2200" dirty="0"/>
              <a:t>무선</a:t>
            </a:r>
            <a:r>
              <a:rPr lang="en-US" altLang="ko-KR" sz="2200" dirty="0"/>
              <a:t>) </a:t>
            </a:r>
            <a:r>
              <a:rPr lang="ko-KR" altLang="en-US" sz="2200" dirty="0"/>
              <a:t>구성도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0C5AE4-2E11-B991-40BD-606036A336E3}"/>
              </a:ext>
            </a:extLst>
          </p:cNvPr>
          <p:cNvSpPr txBox="1"/>
          <p:nvPr/>
        </p:nvSpPr>
        <p:spPr>
          <a:xfrm>
            <a:off x="5384726" y="6206617"/>
            <a:ext cx="123555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한전 변전소</a:t>
            </a:r>
            <a:endParaRPr lang="en-US" altLang="ko-KR" sz="1100" b="1" dirty="0"/>
          </a:p>
          <a:p>
            <a:pPr algn="ctr"/>
            <a:r>
              <a:rPr lang="ko-KR" altLang="en-US" sz="1100" b="1" dirty="0" err="1"/>
              <a:t>스카다</a:t>
            </a:r>
            <a:r>
              <a:rPr lang="ko-KR" altLang="en-US" sz="1100" b="1" dirty="0"/>
              <a:t> 시스템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49B9407-1FDF-0F4E-40D1-3DA1724D5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828" y="5091892"/>
            <a:ext cx="1710676" cy="1008532"/>
          </a:xfrm>
          <a:prstGeom prst="rect">
            <a:avLst/>
          </a:prstGeom>
        </p:spPr>
      </p:pic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8A08994-8AA7-A8A5-070C-961C96DCB63C}"/>
              </a:ext>
            </a:extLst>
          </p:cNvPr>
          <p:cNvCxnSpPr>
            <a:cxnSpLocks/>
          </p:cNvCxnSpPr>
          <p:nvPr/>
        </p:nvCxnSpPr>
        <p:spPr>
          <a:xfrm flipH="1">
            <a:off x="6863257" y="5659832"/>
            <a:ext cx="344025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A3A017-C300-1E1C-3276-A7EBE2D39D9C}"/>
              </a:ext>
            </a:extLst>
          </p:cNvPr>
          <p:cNvSpPr txBox="1"/>
          <p:nvPr/>
        </p:nvSpPr>
        <p:spPr>
          <a:xfrm>
            <a:off x="5429015" y="447765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감시제어실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7FFB5975-8F9E-DFA0-6C2B-8DF223E335A2}"/>
              </a:ext>
            </a:extLst>
          </p:cNvPr>
          <p:cNvGrpSpPr/>
          <p:nvPr/>
        </p:nvGrpSpPr>
        <p:grpSpPr>
          <a:xfrm>
            <a:off x="6467996" y="939808"/>
            <a:ext cx="2177339" cy="1769112"/>
            <a:chOff x="6305067" y="1427322"/>
            <a:chExt cx="2488371" cy="1955687"/>
          </a:xfrm>
        </p:grpSpPr>
        <p:pic>
          <p:nvPicPr>
            <p:cNvPr id="90" name="그림 89" descr="텍스트이(가) 표시된 사진&#10;&#10;자동 생성된 설명">
              <a:extLst>
                <a:ext uri="{FF2B5EF4-FFF2-40B4-BE49-F238E27FC236}">
                  <a16:creationId xmlns:a16="http://schemas.microsoft.com/office/drawing/2014/main" id="{DA34563F-3E0D-FB82-7291-67A3A95E8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8829" y="1427322"/>
              <a:ext cx="2444609" cy="1955687"/>
            </a:xfrm>
            <a:prstGeom prst="rect">
              <a:avLst/>
            </a:prstGeom>
          </p:spPr>
        </p:pic>
        <p:pic>
          <p:nvPicPr>
            <p:cNvPr id="91" name="그림 90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9FD63F23-F47E-B78F-D9B2-F99AECFBF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229164" y="1912551"/>
              <a:ext cx="502129" cy="350323"/>
            </a:xfrm>
            <a:prstGeom prst="rect">
              <a:avLst/>
            </a:prstGeom>
          </p:spPr>
        </p:pic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EB580846-0491-E466-A4A9-4BD61B63A71B}"/>
              </a:ext>
            </a:extLst>
          </p:cNvPr>
          <p:cNvGrpSpPr/>
          <p:nvPr/>
        </p:nvGrpSpPr>
        <p:grpSpPr>
          <a:xfrm>
            <a:off x="6309809" y="2918082"/>
            <a:ext cx="2297983" cy="1730165"/>
            <a:chOff x="5723145" y="3082171"/>
            <a:chExt cx="2297983" cy="1730165"/>
          </a:xfrm>
        </p:grpSpPr>
        <p:pic>
          <p:nvPicPr>
            <p:cNvPr id="99" name="그림 98" descr="텍스트, 전자제품, 책상, 스크린샷이(가) 표시된 사진&#10;&#10;자동 생성된 설명">
              <a:extLst>
                <a:ext uri="{FF2B5EF4-FFF2-40B4-BE49-F238E27FC236}">
                  <a16:creationId xmlns:a16="http://schemas.microsoft.com/office/drawing/2014/main" id="{DEDD597D-9E33-0F53-C7F4-760FC89F4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950" y="3422287"/>
              <a:ext cx="1457526" cy="1298023"/>
            </a:xfrm>
            <a:prstGeom prst="rect">
              <a:avLst/>
            </a:prstGeom>
          </p:spPr>
        </p:pic>
        <p:pic>
          <p:nvPicPr>
            <p:cNvPr id="101" name="그림 100" descr="텍스트, 전자제품이(가) 표시된 사진&#10;&#10;자동 생성된 설명">
              <a:extLst>
                <a:ext uri="{FF2B5EF4-FFF2-40B4-BE49-F238E27FC236}">
                  <a16:creationId xmlns:a16="http://schemas.microsoft.com/office/drawing/2014/main" id="{32088505-398D-401A-A07A-497AC68C0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7063" y="3752537"/>
              <a:ext cx="507800" cy="646936"/>
            </a:xfrm>
            <a:prstGeom prst="rect">
              <a:avLst/>
            </a:prstGeom>
          </p:spPr>
        </p:pic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DD6EFA7-08F1-FBEE-7516-492331152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0510" y="4190333"/>
              <a:ext cx="125778" cy="0"/>
            </a:xfrm>
            <a:prstGeom prst="line">
              <a:avLst/>
            </a:prstGeom>
            <a:ln w="2540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BC003CC2-C9C5-574A-C64D-9A6EB9EE889D}"/>
                </a:ext>
              </a:extLst>
            </p:cNvPr>
            <p:cNvSpPr/>
            <p:nvPr/>
          </p:nvSpPr>
          <p:spPr>
            <a:xfrm>
              <a:off x="5723145" y="3396636"/>
              <a:ext cx="2297983" cy="14157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2" name="그림 121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57BEE078-9B4D-7C6F-5621-C64BF8EF9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770449" y="3540533"/>
              <a:ext cx="390887" cy="263791"/>
            </a:xfrm>
            <a:prstGeom prst="rect">
              <a:avLst/>
            </a:prstGeom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6A71267-F2B0-5A8D-747C-7DD5082B385F}"/>
                </a:ext>
              </a:extLst>
            </p:cNvPr>
            <p:cNvSpPr txBox="1"/>
            <p:nvPr/>
          </p:nvSpPr>
          <p:spPr>
            <a:xfrm>
              <a:off x="6095321" y="3082171"/>
              <a:ext cx="15536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통합관제시스템 </a:t>
              </a:r>
              <a:r>
                <a:rPr lang="en-US" altLang="ko-KR" sz="1100" dirty="0"/>
                <a:t>(IMS)</a:t>
              </a:r>
              <a:endParaRPr lang="ko-KR" altLang="en-US" sz="1100" dirty="0"/>
            </a:p>
          </p:txBody>
        </p:sp>
      </p:grpSp>
      <p:pic>
        <p:nvPicPr>
          <p:cNvPr id="132" name="그림 131" descr="텍스트, 전자제품이(가) 표시된 사진&#10;&#10;자동 생성된 설명">
            <a:extLst>
              <a:ext uri="{FF2B5EF4-FFF2-40B4-BE49-F238E27FC236}">
                <a16:creationId xmlns:a16="http://schemas.microsoft.com/office/drawing/2014/main" id="{BB35FC8E-3188-C2DC-9417-56F080087FF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82" y="4932217"/>
            <a:ext cx="897850" cy="1201252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C9D7D667-14AC-8BF5-7227-A7A49F244FA8}"/>
              </a:ext>
            </a:extLst>
          </p:cNvPr>
          <p:cNvSpPr txBox="1"/>
          <p:nvPr/>
        </p:nvSpPr>
        <p:spPr>
          <a:xfrm>
            <a:off x="7051767" y="6221499"/>
            <a:ext cx="123555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/>
              <a:t>스카다</a:t>
            </a:r>
            <a:r>
              <a:rPr lang="ko-KR" altLang="en-US" sz="1100" b="1" dirty="0"/>
              <a:t> 확장장치</a:t>
            </a: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C7A09119-9ECE-74D0-77A2-CDDA34117E6C}"/>
              </a:ext>
            </a:extLst>
          </p:cNvPr>
          <p:cNvCxnSpPr>
            <a:cxnSpLocks/>
          </p:cNvCxnSpPr>
          <p:nvPr/>
        </p:nvCxnSpPr>
        <p:spPr>
          <a:xfrm>
            <a:off x="7626346" y="4654095"/>
            <a:ext cx="0" cy="437875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298CBBD-4B27-568F-9C58-563C068E2BFE}"/>
              </a:ext>
            </a:extLst>
          </p:cNvPr>
          <p:cNvSpPr txBox="1"/>
          <p:nvPr/>
        </p:nvSpPr>
        <p:spPr>
          <a:xfrm>
            <a:off x="8085635" y="538086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최대 </a:t>
            </a:r>
            <a:r>
              <a:rPr lang="en-US" altLang="ko-KR" sz="900" dirty="0"/>
              <a:t>32</a:t>
            </a:r>
            <a:r>
              <a:rPr lang="ko-KR" altLang="en-US" sz="900" dirty="0"/>
              <a:t>개</a:t>
            </a:r>
            <a:endParaRPr lang="en-US" altLang="ko-KR" sz="900" dirty="0"/>
          </a:p>
          <a:p>
            <a:pPr algn="ctr"/>
            <a:r>
              <a:rPr lang="ko-KR" altLang="en-US" sz="900" dirty="0"/>
              <a:t>접점 연결가능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414B607-96B9-23EC-1729-7E98E3B42FF4}"/>
              </a:ext>
            </a:extLst>
          </p:cNvPr>
          <p:cNvGrpSpPr/>
          <p:nvPr/>
        </p:nvGrpSpPr>
        <p:grpSpPr>
          <a:xfrm>
            <a:off x="2802195" y="2973583"/>
            <a:ext cx="2550733" cy="1867241"/>
            <a:chOff x="165930" y="1155511"/>
            <a:chExt cx="2550733" cy="1867241"/>
          </a:xfrm>
        </p:grpSpPr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58676571-CBDF-6066-C257-C7D9B2324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680" y="1497232"/>
              <a:ext cx="505976" cy="762897"/>
            </a:xfrm>
            <a:prstGeom prst="rect">
              <a:avLst/>
            </a:prstGeom>
          </p:spPr>
        </p:pic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D1CE211-C332-406C-E61D-7ED371E90D22}"/>
                </a:ext>
              </a:extLst>
            </p:cNvPr>
            <p:cNvSpPr/>
            <p:nvPr/>
          </p:nvSpPr>
          <p:spPr>
            <a:xfrm>
              <a:off x="269169" y="1155511"/>
              <a:ext cx="2368544" cy="15485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ED039A-A9E6-9CAC-3894-4ED581C4C9E1}"/>
                </a:ext>
              </a:extLst>
            </p:cNvPr>
            <p:cNvSpPr txBox="1"/>
            <p:nvPr/>
          </p:nvSpPr>
          <p:spPr>
            <a:xfrm>
              <a:off x="165930" y="2791920"/>
              <a:ext cx="1287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전력구용 로컬수신기</a:t>
              </a: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6C902F7-A900-3BCA-1580-DD5C1E0F8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6038" y="1638429"/>
              <a:ext cx="387460" cy="481776"/>
            </a:xfrm>
            <a:prstGeom prst="rect">
              <a:avLst/>
            </a:prstGeom>
          </p:spPr>
        </p:pic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09966268-471B-4770-2352-1CEC0694051E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843498" y="1879317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66B5DEE-5BB5-37C9-33F3-102C102C3F54}"/>
                </a:ext>
              </a:extLst>
            </p:cNvPr>
            <p:cNvSpPr txBox="1"/>
            <p:nvPr/>
          </p:nvSpPr>
          <p:spPr>
            <a:xfrm>
              <a:off x="368265" y="1406455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3BA3E34-9E94-9A63-8689-640F8FDD2BC4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456076" y="1637287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9E6615B1-9419-546C-D9DD-21D6FC341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014" y="1378820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9" name="그림 28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22DECD1B-18C1-08CF-3594-E7664884B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430315">
              <a:off x="1940813" y="1265172"/>
              <a:ext cx="348472" cy="24312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28F7E5-EB35-6C97-DEB3-2A494509D4BF}"/>
                </a:ext>
              </a:extLst>
            </p:cNvPr>
            <p:cNvSpPr txBox="1"/>
            <p:nvPr/>
          </p:nvSpPr>
          <p:spPr>
            <a:xfrm>
              <a:off x="1332609" y="2451541"/>
              <a:ext cx="8899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무선통신장치</a:t>
              </a:r>
            </a:p>
          </p:txBody>
        </p:sp>
        <p:pic>
          <p:nvPicPr>
            <p:cNvPr id="33" name="Picture 16">
              <a:extLst>
                <a:ext uri="{FF2B5EF4-FFF2-40B4-BE49-F238E27FC236}">
                  <a16:creationId xmlns:a16="http://schemas.microsoft.com/office/drawing/2014/main" id="{B8B36BAC-2C44-C869-12AC-87A0B0B14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838" y="1928767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4" name="그림 33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187E5F31-1FE8-1118-539F-5DA299B21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37310" y="1873163"/>
              <a:ext cx="348472" cy="243120"/>
            </a:xfrm>
            <a:prstGeom prst="rect">
              <a:avLst/>
            </a:prstGeom>
          </p:spPr>
        </p:pic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16BB5324-70FA-B608-14B0-F7CD27A72067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132856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06C737-9FDA-D0D7-B04D-00E30BD56888}"/>
                </a:ext>
              </a:extLst>
            </p:cNvPr>
            <p:cNvSpPr txBox="1"/>
            <p:nvPr/>
          </p:nvSpPr>
          <p:spPr>
            <a:xfrm>
              <a:off x="1977479" y="1517577"/>
              <a:ext cx="7391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소방본부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46011-AFD1-FC8B-4A6C-9E0544154F21}"/>
                </a:ext>
              </a:extLst>
            </p:cNvPr>
            <p:cNvSpPr txBox="1"/>
            <p:nvPr/>
          </p:nvSpPr>
          <p:spPr>
            <a:xfrm>
              <a:off x="2046294" y="2127950"/>
              <a:ext cx="63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변전소 </a:t>
              </a:r>
              <a:r>
                <a:rPr lang="en-US" altLang="ko-KR" sz="900" dirty="0"/>
                <a:t>IMS</a:t>
              </a:r>
              <a:endParaRPr lang="ko-KR" altLang="en-US" sz="90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01CA4EC-CE3E-5A14-BA20-F4DE70247A47}"/>
              </a:ext>
            </a:extLst>
          </p:cNvPr>
          <p:cNvGrpSpPr/>
          <p:nvPr/>
        </p:nvGrpSpPr>
        <p:grpSpPr>
          <a:xfrm>
            <a:off x="241106" y="2973583"/>
            <a:ext cx="2526423" cy="1854749"/>
            <a:chOff x="190240" y="1155511"/>
            <a:chExt cx="2526423" cy="1854749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87F7B4EC-3C43-F0BF-60FC-FFD240ACD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680" y="1497232"/>
              <a:ext cx="505976" cy="762897"/>
            </a:xfrm>
            <a:prstGeom prst="rect">
              <a:avLst/>
            </a:prstGeom>
          </p:spPr>
        </p:pic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AFE38-6BDB-A25F-2F53-3A0036B4586C}"/>
                </a:ext>
              </a:extLst>
            </p:cNvPr>
            <p:cNvSpPr/>
            <p:nvPr/>
          </p:nvSpPr>
          <p:spPr>
            <a:xfrm>
              <a:off x="269169" y="1155511"/>
              <a:ext cx="2368544" cy="15485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BC28A53-01A8-7215-7AFC-F06B7BC49BC2}"/>
                </a:ext>
              </a:extLst>
            </p:cNvPr>
            <p:cNvSpPr txBox="1"/>
            <p:nvPr/>
          </p:nvSpPr>
          <p:spPr>
            <a:xfrm>
              <a:off x="190240" y="2779428"/>
              <a:ext cx="1287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전력구용 로컬수신기</a:t>
              </a: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59E4C5A4-9B5B-41AB-F7C2-C7C045BED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6038" y="1638429"/>
              <a:ext cx="387460" cy="481776"/>
            </a:xfrm>
            <a:prstGeom prst="rect">
              <a:avLst/>
            </a:prstGeom>
          </p:spPr>
        </p:pic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BAFD23D4-AF47-0EC0-D270-F0DA83909C22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>
              <a:off x="843498" y="1879317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E9F15FD-A03C-358F-2809-829A25606085}"/>
                </a:ext>
              </a:extLst>
            </p:cNvPr>
            <p:cNvSpPr txBox="1"/>
            <p:nvPr/>
          </p:nvSpPr>
          <p:spPr>
            <a:xfrm>
              <a:off x="368265" y="1406455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838EDBC-5E60-F7BA-9B9C-CF62F8B6934B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>
              <a:off x="1456076" y="1637287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7" name="Picture 16">
              <a:extLst>
                <a:ext uri="{FF2B5EF4-FFF2-40B4-BE49-F238E27FC236}">
                  <a16:creationId xmlns:a16="http://schemas.microsoft.com/office/drawing/2014/main" id="{44A3A977-5786-53E5-52B9-F759EE262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014" y="1378820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8" name="그림 97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CEE1A7CF-829D-12CC-89F5-3EC466808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766">
              <a:off x="1940813" y="1265172"/>
              <a:ext cx="348472" cy="243120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5E45B35-3453-4319-59B9-9FBB2590A3B9}"/>
                </a:ext>
              </a:extLst>
            </p:cNvPr>
            <p:cNvSpPr txBox="1"/>
            <p:nvPr/>
          </p:nvSpPr>
          <p:spPr>
            <a:xfrm>
              <a:off x="1332609" y="2451541"/>
              <a:ext cx="8899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무선통신장치</a:t>
              </a:r>
            </a:p>
          </p:txBody>
        </p:sp>
        <p:pic>
          <p:nvPicPr>
            <p:cNvPr id="102" name="Picture 16">
              <a:extLst>
                <a:ext uri="{FF2B5EF4-FFF2-40B4-BE49-F238E27FC236}">
                  <a16:creationId xmlns:a16="http://schemas.microsoft.com/office/drawing/2014/main" id="{F6CEE97D-8A74-6D7A-3978-895AF7C62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838" y="1928767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3" name="그림 102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FFE827A4-236D-F83C-28EB-BB55AFE2B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37310" y="1873163"/>
              <a:ext cx="348472" cy="243120"/>
            </a:xfrm>
            <a:prstGeom prst="rect">
              <a:avLst/>
            </a:prstGeom>
          </p:spPr>
        </p:pic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DAFF6FEB-CE70-CD88-F52F-CD761C92C627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132856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C86C92C-7DBA-4381-5BAC-C36976ED5322}"/>
                </a:ext>
              </a:extLst>
            </p:cNvPr>
            <p:cNvSpPr txBox="1"/>
            <p:nvPr/>
          </p:nvSpPr>
          <p:spPr>
            <a:xfrm>
              <a:off x="1977479" y="1517577"/>
              <a:ext cx="7391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소방본부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E4C5427-C3A7-DA22-A6C0-8B86CB096772}"/>
                </a:ext>
              </a:extLst>
            </p:cNvPr>
            <p:cNvSpPr txBox="1"/>
            <p:nvPr/>
          </p:nvSpPr>
          <p:spPr>
            <a:xfrm>
              <a:off x="2046294" y="2127950"/>
              <a:ext cx="63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변전소 </a:t>
              </a:r>
              <a:r>
                <a:rPr lang="en-US" altLang="ko-KR" sz="900" dirty="0"/>
                <a:t>IMS</a:t>
              </a:r>
              <a:endParaRPr lang="ko-KR" altLang="en-US" sz="900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DA31EDE-2C19-7C8D-70D5-C85F23634E54}"/>
              </a:ext>
            </a:extLst>
          </p:cNvPr>
          <p:cNvGrpSpPr/>
          <p:nvPr/>
        </p:nvGrpSpPr>
        <p:grpSpPr>
          <a:xfrm>
            <a:off x="241106" y="4866640"/>
            <a:ext cx="2500294" cy="1845544"/>
            <a:chOff x="216369" y="1155511"/>
            <a:chExt cx="2500294" cy="1845544"/>
          </a:xfrm>
        </p:grpSpPr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63029F8A-81A5-4CA0-E921-A51BF1D42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680" y="1497232"/>
              <a:ext cx="505976" cy="762897"/>
            </a:xfrm>
            <a:prstGeom prst="rect">
              <a:avLst/>
            </a:prstGeom>
          </p:spPr>
        </p:pic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445140E2-F079-679E-77EF-6837A122E286}"/>
                </a:ext>
              </a:extLst>
            </p:cNvPr>
            <p:cNvSpPr/>
            <p:nvPr/>
          </p:nvSpPr>
          <p:spPr>
            <a:xfrm>
              <a:off x="269169" y="1155511"/>
              <a:ext cx="2368544" cy="15485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7940C65-3B02-A4BA-2B71-F82E61827CCD}"/>
                </a:ext>
              </a:extLst>
            </p:cNvPr>
            <p:cNvSpPr txBox="1"/>
            <p:nvPr/>
          </p:nvSpPr>
          <p:spPr>
            <a:xfrm>
              <a:off x="216369" y="2770223"/>
              <a:ext cx="1287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전력구용 로컬수신기</a:t>
              </a:r>
            </a:p>
          </p:txBody>
        </p:sp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A68381A9-C152-E138-2053-5ACEB8C8D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6038" y="1638429"/>
              <a:ext cx="387460" cy="481776"/>
            </a:xfrm>
            <a:prstGeom prst="rect">
              <a:avLst/>
            </a:prstGeom>
          </p:spPr>
        </p:pic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8E424F3A-7114-CC24-89A1-C01BC49DDF45}"/>
                </a:ext>
              </a:extLst>
            </p:cNvPr>
            <p:cNvCxnSpPr>
              <a:cxnSpLocks/>
              <a:stCxn id="112" idx="3"/>
            </p:cNvCxnSpPr>
            <p:nvPr/>
          </p:nvCxnSpPr>
          <p:spPr>
            <a:xfrm>
              <a:off x="843498" y="1879317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CA61D81-592E-8A54-A271-CABDDD6A0D34}"/>
                </a:ext>
              </a:extLst>
            </p:cNvPr>
            <p:cNvSpPr txBox="1"/>
            <p:nvPr/>
          </p:nvSpPr>
          <p:spPr>
            <a:xfrm>
              <a:off x="368265" y="1406455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F6481FAB-5CFB-527E-9625-19863EFCC825}"/>
                </a:ext>
              </a:extLst>
            </p:cNvPr>
            <p:cNvCxnSpPr>
              <a:cxnSpLocks/>
              <a:endCxn id="116" idx="1"/>
            </p:cNvCxnSpPr>
            <p:nvPr/>
          </p:nvCxnSpPr>
          <p:spPr>
            <a:xfrm>
              <a:off x="1456076" y="1637287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16" name="Picture 16">
              <a:extLst>
                <a:ext uri="{FF2B5EF4-FFF2-40B4-BE49-F238E27FC236}">
                  <a16:creationId xmlns:a16="http://schemas.microsoft.com/office/drawing/2014/main" id="{4346EAD9-DDA4-B7D7-FB34-93414F69F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014" y="1378820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17" name="그림 116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53D011BB-BBBE-4EF3-9638-77897CE4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436727">
              <a:off x="1940813" y="1265172"/>
              <a:ext cx="348472" cy="243120"/>
            </a:xfrm>
            <a:prstGeom prst="rect">
              <a:avLst/>
            </a:prstGeom>
          </p:spPr>
        </p:pic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F0F0482-4BE8-3B96-5E3C-09D528E82B01}"/>
                </a:ext>
              </a:extLst>
            </p:cNvPr>
            <p:cNvSpPr txBox="1"/>
            <p:nvPr/>
          </p:nvSpPr>
          <p:spPr>
            <a:xfrm>
              <a:off x="1332609" y="2451541"/>
              <a:ext cx="8899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무선통신장치</a:t>
              </a:r>
            </a:p>
          </p:txBody>
        </p:sp>
        <p:pic>
          <p:nvPicPr>
            <p:cNvPr id="124" name="Picture 16">
              <a:extLst>
                <a:ext uri="{FF2B5EF4-FFF2-40B4-BE49-F238E27FC236}">
                  <a16:creationId xmlns:a16="http://schemas.microsoft.com/office/drawing/2014/main" id="{668C2574-254A-7325-02F6-27268088C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838" y="1928767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26" name="그림 125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D7DCE4D6-A807-8FDA-2B24-1A4FC444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37310" y="1873163"/>
              <a:ext cx="348472" cy="243120"/>
            </a:xfrm>
            <a:prstGeom prst="rect">
              <a:avLst/>
            </a:prstGeom>
          </p:spPr>
        </p:pic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D60A3922-517B-74A4-167F-8E33E339DC02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132856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131FB00-0D4E-50D4-04D1-DA17F6AECC4F}"/>
                </a:ext>
              </a:extLst>
            </p:cNvPr>
            <p:cNvSpPr txBox="1"/>
            <p:nvPr/>
          </p:nvSpPr>
          <p:spPr>
            <a:xfrm>
              <a:off x="1977479" y="1517577"/>
              <a:ext cx="7391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소방본부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CF9E0D8-238C-B1BC-F392-E92F507C9B4A}"/>
                </a:ext>
              </a:extLst>
            </p:cNvPr>
            <p:cNvSpPr txBox="1"/>
            <p:nvPr/>
          </p:nvSpPr>
          <p:spPr>
            <a:xfrm>
              <a:off x="2046294" y="2127950"/>
              <a:ext cx="63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변전소 </a:t>
              </a:r>
              <a:r>
                <a:rPr lang="en-US" altLang="ko-KR" sz="900" dirty="0"/>
                <a:t>IMS</a:t>
              </a:r>
              <a:endParaRPr lang="ko-KR" altLang="en-US" sz="900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C113321-E2D7-C6D9-AAF8-31621FD4AC83}"/>
              </a:ext>
            </a:extLst>
          </p:cNvPr>
          <p:cNvGrpSpPr/>
          <p:nvPr/>
        </p:nvGrpSpPr>
        <p:grpSpPr>
          <a:xfrm>
            <a:off x="323496" y="1052736"/>
            <a:ext cx="2447526" cy="1844851"/>
            <a:chOff x="269137" y="1155511"/>
            <a:chExt cx="2447526" cy="1844851"/>
          </a:xfrm>
        </p:grpSpPr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2FCB6C27-5E2F-848B-004E-9A8478986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680" y="1497232"/>
              <a:ext cx="505976" cy="762897"/>
            </a:xfrm>
            <a:prstGeom prst="rect">
              <a:avLst/>
            </a:prstGeom>
          </p:spPr>
        </p:pic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E7706BFD-ACBD-545F-F5F1-A981441E516F}"/>
                </a:ext>
              </a:extLst>
            </p:cNvPr>
            <p:cNvSpPr/>
            <p:nvPr/>
          </p:nvSpPr>
          <p:spPr>
            <a:xfrm>
              <a:off x="269169" y="1155511"/>
              <a:ext cx="2368544" cy="15485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FD7F60F-7C0B-BB93-6A80-8B6169329FA9}"/>
                </a:ext>
              </a:extLst>
            </p:cNvPr>
            <p:cNvSpPr txBox="1"/>
            <p:nvPr/>
          </p:nvSpPr>
          <p:spPr>
            <a:xfrm>
              <a:off x="269137" y="2769530"/>
              <a:ext cx="1287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전력구용 로컬수신기</a:t>
              </a:r>
            </a:p>
          </p:txBody>
        </p:sp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017B3C20-68D1-4BB2-27EE-7A556B7CA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6038" y="1638429"/>
              <a:ext cx="387460" cy="481776"/>
            </a:xfrm>
            <a:prstGeom prst="rect">
              <a:avLst/>
            </a:prstGeom>
          </p:spPr>
        </p:pic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DD33CD1-E5AE-0B9D-CCF8-12A561DEB9A0}"/>
                </a:ext>
              </a:extLst>
            </p:cNvPr>
            <p:cNvCxnSpPr>
              <a:cxnSpLocks/>
              <a:stCxn id="138" idx="3"/>
            </p:cNvCxnSpPr>
            <p:nvPr/>
          </p:nvCxnSpPr>
          <p:spPr>
            <a:xfrm>
              <a:off x="843498" y="1879317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FB8027C-7258-19F4-AD7E-4BBD7A812B88}"/>
                </a:ext>
              </a:extLst>
            </p:cNvPr>
            <p:cNvSpPr txBox="1"/>
            <p:nvPr/>
          </p:nvSpPr>
          <p:spPr>
            <a:xfrm>
              <a:off x="368265" y="1406455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B5E6C0D2-5DEC-7AE2-3EB7-FFD1DF00C2D3}"/>
                </a:ext>
              </a:extLst>
            </p:cNvPr>
            <p:cNvCxnSpPr>
              <a:cxnSpLocks/>
              <a:endCxn id="142" idx="1"/>
            </p:cNvCxnSpPr>
            <p:nvPr/>
          </p:nvCxnSpPr>
          <p:spPr>
            <a:xfrm>
              <a:off x="1456076" y="1637287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42" name="Picture 16">
              <a:extLst>
                <a:ext uri="{FF2B5EF4-FFF2-40B4-BE49-F238E27FC236}">
                  <a16:creationId xmlns:a16="http://schemas.microsoft.com/office/drawing/2014/main" id="{721AC1F2-6E4F-7C5E-033E-339151B9D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014" y="1378820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43" name="그림 142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CCE63D0B-02BF-F2F9-9A8F-23F61080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369038">
              <a:off x="1940813" y="1265172"/>
              <a:ext cx="348472" cy="24312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D2E6909-2FBF-2C77-7B9C-CFA4F32C30D4}"/>
                </a:ext>
              </a:extLst>
            </p:cNvPr>
            <p:cNvSpPr txBox="1"/>
            <p:nvPr/>
          </p:nvSpPr>
          <p:spPr>
            <a:xfrm>
              <a:off x="1332609" y="2451541"/>
              <a:ext cx="8899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무선통신장치</a:t>
              </a:r>
            </a:p>
          </p:txBody>
        </p:sp>
        <p:pic>
          <p:nvPicPr>
            <p:cNvPr id="145" name="Picture 16">
              <a:extLst>
                <a:ext uri="{FF2B5EF4-FFF2-40B4-BE49-F238E27FC236}">
                  <a16:creationId xmlns:a16="http://schemas.microsoft.com/office/drawing/2014/main" id="{5EB46BD9-0918-1938-B502-3D76E367C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838" y="1928767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46" name="그림 145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1EC8BFF4-7390-F8C1-D4C9-3E41AB9E3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37310" y="1873163"/>
              <a:ext cx="348472" cy="243120"/>
            </a:xfrm>
            <a:prstGeom prst="rect">
              <a:avLst/>
            </a:prstGeom>
          </p:spPr>
        </p:pic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305B540-5766-C8B4-66D6-C71C4701D52F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132856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F720B3F-2467-2033-BD25-87AA076B2642}"/>
                </a:ext>
              </a:extLst>
            </p:cNvPr>
            <p:cNvSpPr txBox="1"/>
            <p:nvPr/>
          </p:nvSpPr>
          <p:spPr>
            <a:xfrm>
              <a:off x="1977479" y="1517577"/>
              <a:ext cx="7391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소방본부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38E29B9-A0B5-E969-6058-62F96FCB226E}"/>
                </a:ext>
              </a:extLst>
            </p:cNvPr>
            <p:cNvSpPr txBox="1"/>
            <p:nvPr/>
          </p:nvSpPr>
          <p:spPr>
            <a:xfrm>
              <a:off x="2046294" y="2127950"/>
              <a:ext cx="63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변전소 </a:t>
              </a:r>
              <a:r>
                <a:rPr lang="en-US" altLang="ko-KR" sz="900" dirty="0"/>
                <a:t>IMS</a:t>
              </a:r>
              <a:endParaRPr lang="ko-KR" altLang="en-US" sz="900" dirty="0"/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6AF247D-6356-2A6E-7A9F-6C089A01885A}"/>
              </a:ext>
            </a:extLst>
          </p:cNvPr>
          <p:cNvSpPr/>
          <p:nvPr/>
        </p:nvSpPr>
        <p:spPr>
          <a:xfrm>
            <a:off x="5521276" y="2432315"/>
            <a:ext cx="1262190" cy="4280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소방본부</a:t>
            </a:r>
            <a:endParaRPr lang="en-US" altLang="ko-KR" sz="1100" dirty="0"/>
          </a:p>
          <a:p>
            <a:pPr algn="ctr"/>
            <a:r>
              <a:rPr lang="en-US" altLang="ko-KR" sz="1100" dirty="0"/>
              <a:t>119</a:t>
            </a:r>
            <a:r>
              <a:rPr lang="ko-KR" altLang="en-US" sz="1100" dirty="0"/>
              <a:t>종합상황실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872A5C52-B55C-A443-E886-E994F71DC873}"/>
              </a:ext>
            </a:extLst>
          </p:cNvPr>
          <p:cNvGrpSpPr/>
          <p:nvPr/>
        </p:nvGrpSpPr>
        <p:grpSpPr>
          <a:xfrm>
            <a:off x="2824410" y="1071182"/>
            <a:ext cx="2568202" cy="1854722"/>
            <a:chOff x="148461" y="1155511"/>
            <a:chExt cx="2568202" cy="1854722"/>
          </a:xfrm>
        </p:grpSpPr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9926E9ED-F552-2655-D5CF-C45C1A519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680" y="1497232"/>
              <a:ext cx="505976" cy="762897"/>
            </a:xfrm>
            <a:prstGeom prst="rect">
              <a:avLst/>
            </a:prstGeom>
          </p:spPr>
        </p:pic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D861F388-A767-0977-D48C-357E4E23F150}"/>
                </a:ext>
              </a:extLst>
            </p:cNvPr>
            <p:cNvSpPr/>
            <p:nvPr/>
          </p:nvSpPr>
          <p:spPr>
            <a:xfrm>
              <a:off x="269169" y="1155511"/>
              <a:ext cx="2368544" cy="15485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DB5A914-C158-96AF-0E36-279FF2590536}"/>
                </a:ext>
              </a:extLst>
            </p:cNvPr>
            <p:cNvSpPr txBox="1"/>
            <p:nvPr/>
          </p:nvSpPr>
          <p:spPr>
            <a:xfrm>
              <a:off x="148461" y="2779401"/>
              <a:ext cx="1287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전력구용 로컬수신기</a:t>
              </a:r>
            </a:p>
          </p:txBody>
        </p:sp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6D173451-C992-6C32-B9A4-EEBBFCA07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6038" y="1638429"/>
              <a:ext cx="387460" cy="481776"/>
            </a:xfrm>
            <a:prstGeom prst="rect">
              <a:avLst/>
            </a:prstGeom>
          </p:spPr>
        </p:pic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6E28C02A-72F3-CE75-3EB1-A49C4ED8EF1E}"/>
                </a:ext>
              </a:extLst>
            </p:cNvPr>
            <p:cNvCxnSpPr>
              <a:cxnSpLocks/>
              <a:stCxn id="154" idx="3"/>
            </p:cNvCxnSpPr>
            <p:nvPr/>
          </p:nvCxnSpPr>
          <p:spPr>
            <a:xfrm>
              <a:off x="843498" y="1879317"/>
              <a:ext cx="122424" cy="268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F081258-7EA0-5A5F-7EAF-B8F46FC3EB30}"/>
                </a:ext>
              </a:extLst>
            </p:cNvPr>
            <p:cNvSpPr txBox="1"/>
            <p:nvPr/>
          </p:nvSpPr>
          <p:spPr>
            <a:xfrm>
              <a:off x="368265" y="1406455"/>
              <a:ext cx="5309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검출부</a:t>
              </a:r>
              <a:endParaRPr lang="ko-KR" altLang="en-US" sz="900" dirty="0"/>
            </a:p>
          </p:txBody>
        </p: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74698AB1-5591-4AAC-AAD1-056F8DDB445D}"/>
                </a:ext>
              </a:extLst>
            </p:cNvPr>
            <p:cNvCxnSpPr>
              <a:cxnSpLocks/>
              <a:endCxn id="158" idx="1"/>
            </p:cNvCxnSpPr>
            <p:nvPr/>
          </p:nvCxnSpPr>
          <p:spPr>
            <a:xfrm>
              <a:off x="1456076" y="1637287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58" name="Picture 16">
              <a:extLst>
                <a:ext uri="{FF2B5EF4-FFF2-40B4-BE49-F238E27FC236}">
                  <a16:creationId xmlns:a16="http://schemas.microsoft.com/office/drawing/2014/main" id="{91884264-F530-92D0-9DE9-C063E5542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014" y="1378820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59" name="그림 158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C85136F0-79A7-EF3C-5E6D-0F7F620AF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430315">
              <a:off x="1940813" y="1265172"/>
              <a:ext cx="348472" cy="243120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FC0FFAF-C278-8147-C2C7-5FB10CA07953}"/>
                </a:ext>
              </a:extLst>
            </p:cNvPr>
            <p:cNvSpPr txBox="1"/>
            <p:nvPr/>
          </p:nvSpPr>
          <p:spPr>
            <a:xfrm>
              <a:off x="1332609" y="2451541"/>
              <a:ext cx="8899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무선통신장치</a:t>
              </a:r>
            </a:p>
          </p:txBody>
        </p:sp>
        <p:pic>
          <p:nvPicPr>
            <p:cNvPr id="161" name="Picture 16">
              <a:extLst>
                <a:ext uri="{FF2B5EF4-FFF2-40B4-BE49-F238E27FC236}">
                  <a16:creationId xmlns:a16="http://schemas.microsoft.com/office/drawing/2014/main" id="{EA768312-B472-0F4E-0F8E-D85161B8A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2838" y="1928767"/>
              <a:ext cx="367578" cy="5169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62" name="그림 161" descr="클립아트이(가) 표시된 사진&#10;&#10;자동 생성된 설명">
              <a:extLst>
                <a:ext uri="{FF2B5EF4-FFF2-40B4-BE49-F238E27FC236}">
                  <a16:creationId xmlns:a16="http://schemas.microsoft.com/office/drawing/2014/main" id="{A35B243C-51D0-C6CA-6823-96E249128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37310" y="1873163"/>
              <a:ext cx="348472" cy="243120"/>
            </a:xfrm>
            <a:prstGeom prst="rect">
              <a:avLst/>
            </a:prstGeom>
          </p:spPr>
        </p:pic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A6E4BF25-778F-2F86-8C03-5A39CD433972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132856"/>
              <a:ext cx="12593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112FD92-977B-A936-145D-C3B13BFAC867}"/>
                </a:ext>
              </a:extLst>
            </p:cNvPr>
            <p:cNvSpPr txBox="1"/>
            <p:nvPr/>
          </p:nvSpPr>
          <p:spPr>
            <a:xfrm>
              <a:off x="1977479" y="1517577"/>
              <a:ext cx="7391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소방본부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9AA56BF-8842-5ED8-F7AB-BCF5F8FDE36D}"/>
                </a:ext>
              </a:extLst>
            </p:cNvPr>
            <p:cNvSpPr txBox="1"/>
            <p:nvPr/>
          </p:nvSpPr>
          <p:spPr>
            <a:xfrm>
              <a:off x="2046294" y="2127950"/>
              <a:ext cx="63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변전소 </a:t>
              </a:r>
              <a:r>
                <a:rPr lang="en-US" altLang="ko-KR" sz="900" dirty="0"/>
                <a:t>IMS</a:t>
              </a:r>
              <a:endParaRPr lang="ko-KR" altLang="en-US" sz="900" dirty="0"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39C3C09D-A190-F595-BBE9-BC6ED807334C}"/>
              </a:ext>
            </a:extLst>
          </p:cNvPr>
          <p:cNvSpPr txBox="1"/>
          <p:nvPr/>
        </p:nvSpPr>
        <p:spPr>
          <a:xfrm>
            <a:off x="2975228" y="5033786"/>
            <a:ext cx="1803774" cy="14465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b="1" dirty="0"/>
              <a:t>IMS</a:t>
            </a:r>
            <a:r>
              <a:rPr lang="ko-KR" altLang="en-US" sz="1100" b="1" dirty="0"/>
              <a:t>와 전력구수신기는 </a:t>
            </a:r>
            <a:r>
              <a:rPr lang="ko-KR" altLang="en-US" sz="1100" b="1" dirty="0">
                <a:solidFill>
                  <a:srgbClr val="0070C0"/>
                </a:solidFill>
              </a:rPr>
              <a:t>유선</a:t>
            </a:r>
            <a:r>
              <a:rPr lang="en-US" altLang="ko-KR" sz="1100" b="1" dirty="0"/>
              <a:t>/</a:t>
            </a:r>
            <a:r>
              <a:rPr lang="ko-KR" altLang="en-US" sz="1100" b="1" dirty="0">
                <a:solidFill>
                  <a:srgbClr val="FF0000"/>
                </a:solidFill>
              </a:rPr>
              <a:t>무선</a:t>
            </a:r>
            <a:r>
              <a:rPr lang="ko-KR" altLang="en-US" sz="1100" b="1" dirty="0"/>
              <a:t> 또는 복합 연결가능</a:t>
            </a:r>
            <a:endParaRPr lang="en-US" altLang="ko-KR" sz="1100" b="1" dirty="0"/>
          </a:p>
          <a:p>
            <a:pPr marL="171450" indent="-171450">
              <a:buFontTx/>
              <a:buChar char="-"/>
            </a:pPr>
            <a:r>
              <a:rPr lang="en-US" altLang="ko-KR" sz="1100" b="1" dirty="0"/>
              <a:t>IMS</a:t>
            </a:r>
            <a:r>
              <a:rPr lang="ko-KR" altLang="en-US" sz="1100" b="1" dirty="0"/>
              <a:t>와 연결가능 수신기 수량 </a:t>
            </a:r>
            <a:r>
              <a:rPr lang="en-US" altLang="ko-KR" sz="1100" b="1" dirty="0"/>
              <a:t>: 100</a:t>
            </a:r>
            <a:r>
              <a:rPr lang="ko-KR" altLang="en-US" sz="1100" b="1" dirty="0"/>
              <a:t>개 이상</a:t>
            </a:r>
            <a:endParaRPr lang="en-US" altLang="ko-KR" sz="1100" b="1" dirty="0"/>
          </a:p>
          <a:p>
            <a:pPr marL="171450" indent="-171450">
              <a:buFontTx/>
              <a:buChar char="-"/>
            </a:pPr>
            <a:r>
              <a:rPr lang="ko-KR" altLang="en-US" sz="1100" b="1" dirty="0" err="1"/>
              <a:t>스카다확장장치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: </a:t>
            </a:r>
            <a:r>
              <a:rPr lang="ko-KR" altLang="en-US" sz="1100" b="1" dirty="0"/>
              <a:t>접점 최대 </a:t>
            </a:r>
            <a:r>
              <a:rPr lang="en-US" altLang="ko-KR" sz="1100" b="1" dirty="0"/>
              <a:t>256</a:t>
            </a:r>
            <a:r>
              <a:rPr lang="ko-KR" altLang="en-US" sz="1100" b="1" dirty="0"/>
              <a:t>개까지 확장가능</a:t>
            </a:r>
            <a:endParaRPr lang="en-US" altLang="ko-KR" sz="11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AF52F0D5-451D-C9B5-A628-C14E20CE36E6}"/>
              </a:ext>
            </a:extLst>
          </p:cNvPr>
          <p:cNvCxnSpPr>
            <a:cxnSpLocks/>
          </p:cNvCxnSpPr>
          <p:nvPr/>
        </p:nvCxnSpPr>
        <p:spPr>
          <a:xfrm>
            <a:off x="1828468" y="2634198"/>
            <a:ext cx="0" cy="339385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92C2E21-0974-3DEF-72DF-D306F9651287}"/>
              </a:ext>
            </a:extLst>
          </p:cNvPr>
          <p:cNvCxnSpPr>
            <a:cxnSpLocks/>
          </p:cNvCxnSpPr>
          <p:nvPr/>
        </p:nvCxnSpPr>
        <p:spPr>
          <a:xfrm>
            <a:off x="1816669" y="4533647"/>
            <a:ext cx="0" cy="339385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8BC8719B-B6A7-7D77-BF19-79C665474F3F}"/>
              </a:ext>
            </a:extLst>
          </p:cNvPr>
          <p:cNvCxnSpPr>
            <a:cxnSpLocks/>
          </p:cNvCxnSpPr>
          <p:nvPr/>
        </p:nvCxnSpPr>
        <p:spPr>
          <a:xfrm>
            <a:off x="4466282" y="2664233"/>
            <a:ext cx="0" cy="339385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92E0D8D9-4136-8CBC-EE7F-809CC672EEF5}"/>
              </a:ext>
            </a:extLst>
          </p:cNvPr>
          <p:cNvCxnSpPr>
            <a:cxnSpLocks/>
            <a:stCxn id="133" idx="3"/>
            <a:endCxn id="152" idx="1"/>
          </p:cNvCxnSpPr>
          <p:nvPr/>
        </p:nvCxnSpPr>
        <p:spPr>
          <a:xfrm>
            <a:off x="2692072" y="1827015"/>
            <a:ext cx="253046" cy="18446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BF3DB8B-1796-C86F-9F09-08C23E64ED38}"/>
              </a:ext>
            </a:extLst>
          </p:cNvPr>
          <p:cNvCxnSpPr>
            <a:cxnSpLocks/>
          </p:cNvCxnSpPr>
          <p:nvPr/>
        </p:nvCxnSpPr>
        <p:spPr>
          <a:xfrm>
            <a:off x="2670484" y="3803572"/>
            <a:ext cx="253046" cy="18446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6F182407-181C-68C6-C61C-4150150864E9}"/>
              </a:ext>
            </a:extLst>
          </p:cNvPr>
          <p:cNvCxnSpPr>
            <a:cxnSpLocks/>
          </p:cNvCxnSpPr>
          <p:nvPr/>
        </p:nvCxnSpPr>
        <p:spPr>
          <a:xfrm>
            <a:off x="5297263" y="4026244"/>
            <a:ext cx="1164486" cy="0"/>
          </a:xfrm>
          <a:prstGeom prst="line">
            <a:avLst/>
          </a:prstGeom>
          <a:ln w="25400" cmpd="sng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02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418D-4CC9-B344-25A9-BC93BB29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- </a:t>
            </a:r>
            <a:r>
              <a:rPr lang="ko-KR" altLang="en-US" sz="2200" dirty="0"/>
              <a:t>통합관제시스템 </a:t>
            </a:r>
            <a:r>
              <a:rPr lang="en-US" altLang="ko-KR" sz="2200" dirty="0"/>
              <a:t>(IMS) </a:t>
            </a:r>
            <a:r>
              <a:rPr lang="ko-KR" altLang="en-US" sz="2200" dirty="0"/>
              <a:t>구성도</a:t>
            </a:r>
          </a:p>
        </p:txBody>
      </p:sp>
      <p:pic>
        <p:nvPicPr>
          <p:cNvPr id="4" name="그림 11" descr="텍스트, 전자제품이(가) 표시된 사진&#10;&#10;자동 생성된 설명">
            <a:extLst>
              <a:ext uri="{FF2B5EF4-FFF2-40B4-BE49-F238E27FC236}">
                <a16:creationId xmlns:a16="http://schemas.microsoft.com/office/drawing/2014/main" id="{5662C15C-1E09-8820-83BD-A9B7F02F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8" y="5127625"/>
            <a:ext cx="876300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구름 모양 설명선 28">
            <a:extLst>
              <a:ext uri="{FF2B5EF4-FFF2-40B4-BE49-F238E27FC236}">
                <a16:creationId xmlns:a16="http://schemas.microsoft.com/office/drawing/2014/main" id="{79822285-1476-5D8B-EE9B-F0EFDF58AFCF}"/>
              </a:ext>
            </a:extLst>
          </p:cNvPr>
          <p:cNvSpPr/>
          <p:nvPr/>
        </p:nvSpPr>
        <p:spPr bwMode="auto">
          <a:xfrm>
            <a:off x="4144963" y="2089150"/>
            <a:ext cx="1322387" cy="1042988"/>
          </a:xfrm>
          <a:prstGeom prst="cloudCallou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r>
              <a:rPr lang="en-US" altLang="ko-KR" b="1" dirty="0" err="1">
                <a:latin typeface="Arial" charset="0"/>
              </a:rPr>
              <a:t>IoT</a:t>
            </a:r>
            <a:r>
              <a:rPr lang="en-US" altLang="ko-KR" b="1" dirty="0">
                <a:latin typeface="Arial" charset="0"/>
              </a:rPr>
              <a:t> LTE</a:t>
            </a:r>
            <a:endParaRPr lang="ko-KR" altLang="en-US" b="1" dirty="0">
              <a:latin typeface="Arial" charset="0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AC7FF2E3-0D79-4D90-CEE5-E913B659E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863" y="2047875"/>
            <a:ext cx="1282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rPr>
              <a:t>통합관제 </a:t>
            </a:r>
            <a:r>
              <a:rPr lang="en-US" altLang="ko-KR" sz="1200" b="1">
                <a:solidFill>
                  <a:srgbClr val="0051A2"/>
                </a:solidFill>
                <a:latin typeface="맑은 고딕" panose="020B0503020000020004" pitchFamily="50" charset="-127"/>
              </a:rPr>
              <a:t>(IMS)</a:t>
            </a:r>
            <a:endParaRPr lang="ko-KR" altLang="en-US" sz="1200" b="1">
              <a:solidFill>
                <a:srgbClr val="0051A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9A209A3A-2D3B-05EF-A760-0309BFF14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1516063"/>
            <a:ext cx="10001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맑은 고딕" panose="020B0503020000020004" pitchFamily="50" charset="-127"/>
              </a:rPr>
              <a:t>고정</a:t>
            </a:r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</a:rPr>
              <a:t>IP LTE</a:t>
            </a:r>
          </a:p>
        </p:txBody>
      </p:sp>
      <p:cxnSp>
        <p:nvCxnSpPr>
          <p:cNvPr id="9" name="직선 연결선 29">
            <a:extLst>
              <a:ext uri="{FF2B5EF4-FFF2-40B4-BE49-F238E27FC236}">
                <a16:creationId xmlns:a16="http://schemas.microsoft.com/office/drawing/2014/main" id="{C4D86683-CE3B-25AF-02D6-2C47B80A38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10450" y="2433638"/>
            <a:ext cx="0" cy="334962"/>
          </a:xfrm>
          <a:prstGeom prst="line">
            <a:avLst/>
          </a:prstGeom>
          <a:noFill/>
          <a:ln w="381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36">
            <a:extLst>
              <a:ext uri="{FF2B5EF4-FFF2-40B4-BE49-F238E27FC236}">
                <a16:creationId xmlns:a16="http://schemas.microsoft.com/office/drawing/2014/main" id="{1DAE38ED-BE86-5690-6BF9-7EC0DEF9C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2486025"/>
            <a:ext cx="739775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  <a:defRPr/>
            </a:pP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TCP/IP</a:t>
            </a:r>
            <a:endParaRPr lang="en-US" altLang="ko-KR" sz="105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Picture 43">
            <a:extLst>
              <a:ext uri="{FF2B5EF4-FFF2-40B4-BE49-F238E27FC236}">
                <a16:creationId xmlns:a16="http://schemas.microsoft.com/office/drawing/2014/main" id="{C61F8A09-5C80-5AAD-843A-AAC3B510C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4252913"/>
            <a:ext cx="1385888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7">
            <a:extLst>
              <a:ext uri="{FF2B5EF4-FFF2-40B4-BE49-F238E27FC236}">
                <a16:creationId xmlns:a16="http://schemas.microsoft.com/office/drawing/2014/main" id="{6950E40A-5DC9-9E49-713B-A9B90D802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3944938"/>
            <a:ext cx="7477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1200" b="1">
                <a:solidFill>
                  <a:srgbClr val="0051A2"/>
                </a:solidFill>
                <a:latin typeface="맑은 고딕" panose="020B0503020000020004" pitchFamily="50" charset="-127"/>
              </a:rPr>
              <a:t>RTU</a:t>
            </a:r>
            <a:endParaRPr lang="ko-KR" altLang="en-US" sz="1200" b="1">
              <a:solidFill>
                <a:srgbClr val="0051A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7C1FE4-43F0-4C08-3D49-202095274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5" y="6294438"/>
            <a:ext cx="1425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rPr>
              <a:t>스카다확장장치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FFB26DD9-A335-FE7B-C791-E88636A89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710113"/>
            <a:ext cx="541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USB</a:t>
            </a:r>
            <a:endParaRPr lang="ko-KR" altLang="en-US" sz="1200" b="1" dirty="0">
              <a:solidFill>
                <a:srgbClr val="0051A2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2" name="직선 연결선 13">
            <a:extLst>
              <a:ext uri="{FF2B5EF4-FFF2-40B4-BE49-F238E27FC236}">
                <a16:creationId xmlns:a16="http://schemas.microsoft.com/office/drawing/2014/main" id="{0459D437-4565-26D6-9809-66C3E82FCA00}"/>
              </a:ext>
            </a:extLst>
          </p:cNvPr>
          <p:cNvCxnSpPr>
            <a:cxnSpLocks/>
          </p:cNvCxnSpPr>
          <p:nvPr/>
        </p:nvCxnSpPr>
        <p:spPr bwMode="auto">
          <a:xfrm>
            <a:off x="5554663" y="5702300"/>
            <a:ext cx="719137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27">
            <a:extLst>
              <a:ext uri="{FF2B5EF4-FFF2-40B4-BE49-F238E27FC236}">
                <a16:creationId xmlns:a16="http://schemas.microsoft.com/office/drawing/2014/main" id="{C603B5B9-1B29-F8EE-8331-DD1564131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5383213"/>
            <a:ext cx="542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rPr>
              <a:t>접점</a:t>
            </a:r>
          </a:p>
        </p:txBody>
      </p:sp>
      <p:grpSp>
        <p:nvGrpSpPr>
          <p:cNvPr id="34" name="그룹 2">
            <a:extLst>
              <a:ext uri="{FF2B5EF4-FFF2-40B4-BE49-F238E27FC236}">
                <a16:creationId xmlns:a16="http://schemas.microsoft.com/office/drawing/2014/main" id="{C8B37FA9-4818-34DF-ACD3-F7784901536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089025"/>
            <a:ext cx="3395663" cy="5311775"/>
            <a:chOff x="304473" y="1089025"/>
            <a:chExt cx="3395990" cy="5311775"/>
          </a:xfrm>
        </p:grpSpPr>
        <p:pic>
          <p:nvPicPr>
            <p:cNvPr id="37" name="그림 2">
              <a:extLst>
                <a:ext uri="{FF2B5EF4-FFF2-40B4-BE49-F238E27FC236}">
                  <a16:creationId xmlns:a16="http://schemas.microsoft.com/office/drawing/2014/main" id="{4EB66E9E-A172-32BB-D656-8C118FC8ED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7282" y="5734050"/>
              <a:ext cx="498585" cy="6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5AA563CE-E8A5-DE84-7A40-A4C706AD0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815" y="1974088"/>
              <a:ext cx="725648" cy="27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FF0000"/>
                  </a:solidFill>
                  <a:latin typeface="맑은 고딕" panose="020B0503020000020004" pitchFamily="50" charset="-127"/>
                </a:rPr>
                <a:t>IoT LTE</a:t>
              </a:r>
            </a:p>
          </p:txBody>
        </p:sp>
        <p:sp>
          <p:nvSpPr>
            <p:cNvPr id="39" name="TextBox 25">
              <a:extLst>
                <a:ext uri="{FF2B5EF4-FFF2-40B4-BE49-F238E27FC236}">
                  <a16:creationId xmlns:a16="http://schemas.microsoft.com/office/drawing/2014/main" id="{07E55128-E182-BE63-23C0-560BA8DA6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3487738"/>
              <a:ext cx="1159131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ko-KR" altLang="en-US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화재수신기</a:t>
              </a:r>
              <a:endParaRPr lang="en-US" altLang="ko-KR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지하구</a:t>
              </a: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" name="TextBox 28">
              <a:extLst>
                <a:ext uri="{FF2B5EF4-FFF2-40B4-BE49-F238E27FC236}">
                  <a16:creationId xmlns:a16="http://schemas.microsoft.com/office/drawing/2014/main" id="{CD62E3B1-89CD-EA46-A41D-9FCD3E4F6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558" y="1089025"/>
              <a:ext cx="1159131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FF0000"/>
                  </a:solidFill>
                  <a:latin typeface="맑은 고딕" panose="020B0503020000020004" pitchFamily="50" charset="-127"/>
                </a:rPr>
                <a:t>Dual</a:t>
              </a: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무선</a:t>
              </a: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통신변환장치</a:t>
              </a:r>
              <a:endParaRPr lang="en-US" altLang="ko-KR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(U+, KT)</a:t>
              </a:r>
              <a:endPara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1" name="그룹 10">
              <a:extLst>
                <a:ext uri="{FF2B5EF4-FFF2-40B4-BE49-F238E27FC236}">
                  <a16:creationId xmlns:a16="http://schemas.microsoft.com/office/drawing/2014/main" id="{2225DA36-EBAD-FE76-569C-537551385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1548" y="1736725"/>
              <a:ext cx="1457647" cy="1184275"/>
              <a:chOff x="1839913" y="1844824"/>
              <a:chExt cx="1457325" cy="1184275"/>
            </a:xfrm>
          </p:grpSpPr>
          <p:pic>
            <p:nvPicPr>
              <p:cNvPr id="93" name="그림 2">
                <a:extLst>
                  <a:ext uri="{FF2B5EF4-FFF2-40B4-BE49-F238E27FC236}">
                    <a16:creationId xmlns:a16="http://schemas.microsoft.com/office/drawing/2014/main" id="{E069D285-114B-F819-2FC5-9644E1D34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11413" y="1844824"/>
                <a:ext cx="885825" cy="1184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94" name="직선 연결선 29">
                <a:extLst>
                  <a:ext uri="{FF2B5EF4-FFF2-40B4-BE49-F238E27FC236}">
                    <a16:creationId xmlns:a16="http://schemas.microsoft.com/office/drawing/2014/main" id="{2566A630-D4BC-F57D-D21D-70B5AAE142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25638" y="2741762"/>
                <a:ext cx="485775" cy="0"/>
              </a:xfrm>
              <a:prstGeom prst="line">
                <a:avLst/>
              </a:prstGeom>
              <a:noFill/>
              <a:ln w="38100" algn="ctr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7" name="TextBox 36">
                <a:extLst>
                  <a:ext uri="{FF2B5EF4-FFF2-40B4-BE49-F238E27FC236}">
                    <a16:creationId xmlns:a16="http://schemas.microsoft.com/office/drawing/2014/main" id="{54E958C8-81A1-BA7D-9EA7-529AD5D1A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9454" y="2471887"/>
                <a:ext cx="674604" cy="246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defRPr>
                </a:lvl9pPr>
              </a:lstStyle>
              <a:p>
                <a:pPr algn="ctr" latinLnBrk="0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RS485</a:t>
                </a:r>
                <a:endParaRPr lang="en-US" altLang="ko-KR" sz="105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2" name="TextBox 46">
              <a:extLst>
                <a:ext uri="{FF2B5EF4-FFF2-40B4-BE49-F238E27FC236}">
                  <a16:creationId xmlns:a16="http://schemas.microsoft.com/office/drawing/2014/main" id="{8506EECD-2D82-629A-F562-B7B23F7B0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6914" y="4492625"/>
              <a:ext cx="131474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ko-KR" altLang="en-US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수신기 제한없음</a:t>
              </a:r>
              <a:endParaRPr lang="en-US" altLang="ko-KR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51A2"/>
                  </a:solidFill>
                  <a:latin typeface="맑은 고딕" panose="020B0503020000020004" pitchFamily="50" charset="-127"/>
                </a:rPr>
                <a:t>(1:N)</a:t>
              </a:r>
              <a:endParaRPr lang="ko-KR" altLang="en-US" sz="1200" b="1">
                <a:solidFill>
                  <a:srgbClr val="0051A2"/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45" name="그림 39">
              <a:extLst>
                <a:ext uri="{FF2B5EF4-FFF2-40B4-BE49-F238E27FC236}">
                  <a16:creationId xmlns:a16="http://schemas.microsoft.com/office/drawing/2014/main" id="{69565AAF-C57B-32B0-5FC6-0DB59C01A9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3030390" y="2347067"/>
              <a:ext cx="573088" cy="470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그림 40">
              <a:extLst>
                <a:ext uri="{FF2B5EF4-FFF2-40B4-BE49-F238E27FC236}">
                  <a16:creationId xmlns:a16="http://schemas.microsoft.com/office/drawing/2014/main" id="{A3B00CE5-FED9-0736-4062-15C3027FB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2879536" y="3156699"/>
              <a:ext cx="495300" cy="404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그림 2">
              <a:extLst>
                <a:ext uri="{FF2B5EF4-FFF2-40B4-BE49-F238E27FC236}">
                  <a16:creationId xmlns:a16="http://schemas.microsoft.com/office/drawing/2014/main" id="{C3735CE5-4D95-9BEA-6BAF-E9DD94075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0879" y="2960688"/>
              <a:ext cx="498585" cy="668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그림 2">
              <a:extLst>
                <a:ext uri="{FF2B5EF4-FFF2-40B4-BE49-F238E27FC236}">
                  <a16:creationId xmlns:a16="http://schemas.microsoft.com/office/drawing/2014/main" id="{6FE791BC-503B-5FA2-E696-6CE8FA64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7061" y="3644900"/>
              <a:ext cx="498585" cy="668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그림 2">
              <a:extLst>
                <a:ext uri="{FF2B5EF4-FFF2-40B4-BE49-F238E27FC236}">
                  <a16:creationId xmlns:a16="http://schemas.microsoft.com/office/drawing/2014/main" id="{313749D0-0C69-30A5-81BC-8AF1236A8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7061" y="4329113"/>
              <a:ext cx="498585" cy="6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그림 2">
              <a:extLst>
                <a:ext uri="{FF2B5EF4-FFF2-40B4-BE49-F238E27FC236}">
                  <a16:creationId xmlns:a16="http://schemas.microsoft.com/office/drawing/2014/main" id="{102A14E3-12C1-1DCA-545C-49F5FD3D8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0879" y="5049838"/>
              <a:ext cx="498585" cy="6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그림 49">
              <a:extLst>
                <a:ext uri="{FF2B5EF4-FFF2-40B4-BE49-F238E27FC236}">
                  <a16:creationId xmlns:a16="http://schemas.microsoft.com/office/drawing/2014/main" id="{36AAB89E-9D3E-6E47-95BF-33749C84F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2893032" y="3800431"/>
              <a:ext cx="493713" cy="404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그림 50">
              <a:extLst>
                <a:ext uri="{FF2B5EF4-FFF2-40B4-BE49-F238E27FC236}">
                  <a16:creationId xmlns:a16="http://schemas.microsoft.com/office/drawing/2014/main" id="{42AF7FB8-2921-FF4D-D5CC-610C50891C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2865246" y="4521948"/>
              <a:ext cx="495300" cy="404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그림 51">
              <a:extLst>
                <a:ext uri="{FF2B5EF4-FFF2-40B4-BE49-F238E27FC236}">
                  <a16:creationId xmlns:a16="http://schemas.microsoft.com/office/drawing/2014/main" id="{867E3BFF-196D-7737-840D-BE65CCD2A6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2874773" y="5180761"/>
              <a:ext cx="495300" cy="404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그림 52">
              <a:extLst>
                <a:ext uri="{FF2B5EF4-FFF2-40B4-BE49-F238E27FC236}">
                  <a16:creationId xmlns:a16="http://schemas.microsoft.com/office/drawing/2014/main" id="{52DD8C86-B259-FAF8-0802-DE574435F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218253">
              <a:off x="2875566" y="5886405"/>
              <a:ext cx="493713" cy="404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내용 개체 틀 28">
              <a:extLst>
                <a:ext uri="{FF2B5EF4-FFF2-40B4-BE49-F238E27FC236}">
                  <a16:creationId xmlns:a16="http://schemas.microsoft.com/office/drawing/2014/main" id="{60AEBAD9-F2A4-DB4C-C221-3109884B74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473" y="1407966"/>
              <a:ext cx="1296144" cy="195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8" name="Picture 0">
            <a:extLst>
              <a:ext uri="{FF2B5EF4-FFF2-40B4-BE49-F238E27FC236}">
                <a16:creationId xmlns:a16="http://schemas.microsoft.com/office/drawing/2014/main" id="{5CE969D1-DC77-F285-AE84-9B7E8D896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3" y="2738438"/>
            <a:ext cx="2149475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" name="Picture 2">
            <a:extLst>
              <a:ext uri="{FF2B5EF4-FFF2-40B4-BE49-F238E27FC236}">
                <a16:creationId xmlns:a16="http://schemas.microsoft.com/office/drawing/2014/main" id="{01B775BC-989A-1542-01D9-C0148C913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0" y="1479550"/>
            <a:ext cx="7175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" name="Picture 4">
            <a:extLst>
              <a:ext uri="{FF2B5EF4-FFF2-40B4-BE49-F238E27FC236}">
                <a16:creationId xmlns:a16="http://schemas.microsoft.com/office/drawing/2014/main" id="{AD826908-1A5A-AA10-C7E3-9BDF9126C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1916113"/>
            <a:ext cx="3365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298F835-0222-9D0D-03B9-DBF847B78F5A}"/>
              </a:ext>
            </a:extLst>
          </p:cNvPr>
          <p:cNvCxnSpPr>
            <a:cxnSpLocks/>
          </p:cNvCxnSpPr>
          <p:nvPr/>
        </p:nvCxnSpPr>
        <p:spPr bwMode="auto">
          <a:xfrm>
            <a:off x="6700838" y="4437063"/>
            <a:ext cx="0" cy="86042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xtBox 27">
            <a:extLst>
              <a:ext uri="{FF2B5EF4-FFF2-40B4-BE49-F238E27FC236}">
                <a16:creationId xmlns:a16="http://schemas.microsoft.com/office/drawing/2014/main" id="{2626EE60-1D23-0313-2E72-D84B1FF62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8" y="5527330"/>
            <a:ext cx="108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기본 </a:t>
            </a:r>
            <a:r>
              <a:rPr lang="en-US" altLang="ko-KR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32 </a:t>
            </a:r>
            <a:r>
              <a:rPr lang="ko-KR" altLang="en-US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회로</a:t>
            </a:r>
            <a:endParaRPr lang="en-US" altLang="ko-KR" sz="1200" b="1" dirty="0">
              <a:solidFill>
                <a:srgbClr val="0051A2"/>
              </a:solidFill>
              <a:latin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256</a:t>
            </a:r>
            <a:r>
              <a:rPr lang="ko-KR" altLang="en-US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개 확장가능</a:t>
            </a:r>
            <a:r>
              <a:rPr lang="en-US" altLang="ko-KR" sz="1200" b="1" dirty="0">
                <a:solidFill>
                  <a:srgbClr val="0051A2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 dirty="0">
              <a:solidFill>
                <a:srgbClr val="0051A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078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418D-4CC9-B344-25A9-BC93BB29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- </a:t>
            </a:r>
            <a:r>
              <a:rPr lang="ko-KR" altLang="en-US" sz="2200" dirty="0"/>
              <a:t>통합수신기 </a:t>
            </a:r>
            <a:r>
              <a:rPr lang="en-US" altLang="ko-KR" sz="2200" dirty="0"/>
              <a:t>vs </a:t>
            </a:r>
            <a:r>
              <a:rPr lang="ko-KR" altLang="en-US" sz="2200" dirty="0"/>
              <a:t>통합관제시스템</a:t>
            </a:r>
            <a:r>
              <a:rPr lang="en-US" altLang="ko-KR" sz="2200" dirty="0"/>
              <a:t>(IMS)</a:t>
            </a:r>
            <a:r>
              <a:rPr lang="ko-KR" altLang="en-US" sz="2200" dirty="0"/>
              <a:t> 비교</a:t>
            </a:r>
          </a:p>
        </p:txBody>
      </p:sp>
      <p:graphicFrame>
        <p:nvGraphicFramePr>
          <p:cNvPr id="5" name="표 10">
            <a:extLst>
              <a:ext uri="{FF2B5EF4-FFF2-40B4-BE49-F238E27FC236}">
                <a16:creationId xmlns:a16="http://schemas.microsoft.com/office/drawing/2014/main" id="{849624E8-4A3E-FAEC-DC1C-0A946C6B5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23199"/>
              </p:ext>
            </p:extLst>
          </p:nvPr>
        </p:nvGraphicFramePr>
        <p:xfrm>
          <a:off x="539552" y="1196752"/>
          <a:ext cx="8136903" cy="5292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568111032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934822556"/>
                    </a:ext>
                  </a:extLst>
                </a:gridCol>
                <a:gridCol w="3096343">
                  <a:extLst>
                    <a:ext uri="{9D8B030D-6E8A-4147-A177-3AD203B41FA5}">
                      <a16:colId xmlns:a16="http://schemas.microsoft.com/office/drawing/2014/main" val="2663326069"/>
                    </a:ext>
                  </a:extLst>
                </a:gridCol>
              </a:tblGrid>
              <a:tr h="828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구  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통합수신기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통합관제시스템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en-US" altLang="ko-KR" sz="2000" dirty="0"/>
                        <a:t>(IMS)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564445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연결방식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유선 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광통신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유선 </a:t>
                      </a:r>
                      <a:r>
                        <a:rPr lang="en-US" altLang="ko-KR" sz="2000" dirty="0"/>
                        <a:t>/ </a:t>
                      </a:r>
                      <a:r>
                        <a:rPr lang="ko-KR" altLang="en-US" sz="2000" dirty="0"/>
                        <a:t>무선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ko-KR" altLang="en-US" sz="2000" dirty="0"/>
                        <a:t>복합 사용가능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727196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연결가능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ko-KR" altLang="en-US" sz="2000" dirty="0"/>
                        <a:t>수신기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Zone </a:t>
                      </a:r>
                      <a:r>
                        <a:rPr lang="ko-KR" altLang="en-US" sz="2000" dirty="0"/>
                        <a:t>개수 최대 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r>
                        <a:rPr lang="ko-KR" altLang="en-US" sz="2000" dirty="0"/>
                        <a:t>개로 제한적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제한없음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146420"/>
                  </a:ext>
                </a:extLst>
              </a:tr>
              <a:tr h="1116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시공방법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수신기간 </a:t>
                      </a:r>
                      <a:r>
                        <a:rPr lang="ko-KR" altLang="en-US" sz="2000" dirty="0" err="1"/>
                        <a:t>연결시</a:t>
                      </a:r>
                      <a:r>
                        <a:rPr lang="ko-KR" altLang="en-US" sz="2000" dirty="0"/>
                        <a:t> </a:t>
                      </a:r>
                      <a:r>
                        <a:rPr lang="ko-KR" altLang="en-US" sz="2000" dirty="0" err="1"/>
                        <a:t>미디어컨버터</a:t>
                      </a:r>
                      <a:r>
                        <a:rPr lang="ko-KR" altLang="en-US" sz="2000" dirty="0"/>
                        <a:t> 및 </a:t>
                      </a:r>
                      <a:r>
                        <a:rPr lang="ko-KR" altLang="en-US" sz="2000" dirty="0" err="1"/>
                        <a:t>광서버</a:t>
                      </a:r>
                      <a:r>
                        <a:rPr lang="ko-KR" altLang="en-US" sz="2000" dirty="0"/>
                        <a:t> 필요 및 시공비용 발생</a:t>
                      </a:r>
                      <a:endParaRPr lang="en-US" altLang="ko-K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무선통신장치 설치로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ko-KR" altLang="en-US" sz="2000" dirty="0"/>
                        <a:t>시공이 간단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87567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확장성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향후 </a:t>
                      </a:r>
                      <a:r>
                        <a:rPr lang="en-US" altLang="ko-KR" sz="2000" dirty="0"/>
                        <a:t>Zone </a:t>
                      </a:r>
                      <a:r>
                        <a:rPr lang="ko-KR" altLang="en-US" sz="2000" dirty="0" err="1"/>
                        <a:t>추가시</a:t>
                      </a:r>
                      <a:r>
                        <a:rPr lang="ko-KR" altLang="en-US" sz="2000" dirty="0"/>
                        <a:t> 통합수신기 </a:t>
                      </a:r>
                      <a:r>
                        <a:rPr lang="en-US" altLang="ko-KR" sz="2000" dirty="0"/>
                        <a:t>F/W </a:t>
                      </a:r>
                      <a:r>
                        <a:rPr lang="ko-KR" altLang="en-US" sz="2000" dirty="0"/>
                        <a:t>전면 개조필요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IMS </a:t>
                      </a:r>
                      <a:r>
                        <a:rPr lang="ko-KR" altLang="en-US" sz="2000" dirty="0"/>
                        <a:t>서버의 기본 플랫폼에 데이터만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713764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초기 광통신 시공 및 관련통신 기자재 구매필요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초기투자비용 저렴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133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27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14426-35D9-BE8F-2EC8-5E338ADD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4. </a:t>
            </a:r>
            <a:r>
              <a:rPr lang="ko-KR" altLang="en-US" sz="2200" dirty="0"/>
              <a:t>화재수신기 화면 구성 </a:t>
            </a:r>
            <a:r>
              <a:rPr lang="en-US" altLang="ko-KR" sz="2200" dirty="0"/>
              <a:t>- </a:t>
            </a:r>
            <a:r>
              <a:rPr lang="ko-KR" altLang="en-US" sz="2200" dirty="0"/>
              <a:t>감시화면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8882CC-5023-5A7C-7528-D65657DA2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1459409"/>
            <a:ext cx="8402637" cy="4715469"/>
          </a:xfrm>
        </p:spPr>
      </p:pic>
    </p:spTree>
    <p:extLst>
      <p:ext uri="{BB962C8B-B14F-4D97-AF65-F5344CB8AC3E}">
        <p14:creationId xmlns:p14="http://schemas.microsoft.com/office/powerpoint/2010/main" val="376547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4E6B8-FC14-37BF-96D0-987697F5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- </a:t>
            </a:r>
            <a:r>
              <a:rPr lang="ko-KR" altLang="en-US" sz="2200" dirty="0"/>
              <a:t>화재발생시 화면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EF355FD-2F22-D248-05A5-ABCCFFC67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1459409"/>
            <a:ext cx="8402637" cy="4715469"/>
          </a:xfrm>
        </p:spPr>
      </p:pic>
    </p:spTree>
    <p:extLst>
      <p:ext uri="{BB962C8B-B14F-4D97-AF65-F5344CB8AC3E}">
        <p14:creationId xmlns:p14="http://schemas.microsoft.com/office/powerpoint/2010/main" val="136208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ko-KR" altLang="en-US" dirty="0">
                <a:solidFill>
                  <a:srgbClr val="0F3A55"/>
                </a:solidFill>
              </a:rPr>
              <a:t>감사합니다</a:t>
            </a:r>
            <a:endParaRPr lang="ko-KR" altLang="en-US" dirty="0">
              <a:solidFill>
                <a:srgbClr val="337BA9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39192" y="3007922"/>
            <a:ext cx="46295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맑은 고딕" pitchFamily="50" charset="-127"/>
                <a:cs typeface="굴림" pitchFamily="50" charset="-127"/>
              </a:rPr>
              <a:t>스마트한 </a:t>
            </a:r>
            <a:r>
              <a:rPr kumimoji="1" lang="en-US" altLang="ko-KR" sz="10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맑은 고딕" pitchFamily="50" charset="-127"/>
                <a:cs typeface="굴림" pitchFamily="50" charset="-127"/>
              </a:rPr>
              <a:t>IT</a:t>
            </a:r>
            <a:r>
              <a:rPr kumimoji="1" lang="ko-KR" altLang="en-US" sz="10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맑은 고딕" pitchFamily="50" charset="-127"/>
                <a:cs typeface="굴림" pitchFamily="50" charset="-127"/>
              </a:rPr>
              <a:t>세상을 선도하는 혁신기업</a:t>
            </a:r>
            <a:endParaRPr kumimoji="1" lang="en-US" altLang="ko-KR" sz="1000" dirty="0">
              <a:solidFill>
                <a:schemeClr val="bg1">
                  <a:lumMod val="50000"/>
                </a:schemeClr>
              </a:solidFill>
              <a:latin typeface="Arial" pitchFamily="34" charset="0"/>
              <a:ea typeface="맑은 고딕" pitchFamily="50" charset="-127"/>
              <a:cs typeface="굴림" pitchFamily="50" charset="-127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0" y="2993328"/>
            <a:ext cx="5540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11263</TotalTime>
  <Words>474</Words>
  <Application>Microsoft Office PowerPoint</Application>
  <PresentationFormat>화면 슬라이드 쇼(4:3)</PresentationFormat>
  <Paragraphs>166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</vt:lpstr>
      <vt:lpstr>Arial</vt:lpstr>
      <vt:lpstr>굴림체</vt:lpstr>
      <vt:lpstr>맑은 고딕</vt:lpstr>
      <vt:lpstr>Office 테마</vt:lpstr>
      <vt:lpstr>전력구용 광케이블식 화재감시시스템</vt:lpstr>
      <vt:lpstr>PowerPoint 프레젠테이션</vt:lpstr>
      <vt:lpstr>1. 단독형 광수신기 및 통합감시시설 구성도</vt:lpstr>
      <vt:lpstr> - 전력구용 화재수신기 연결</vt:lpstr>
      <vt:lpstr>2. 통합수신기 및 스카다확장장치 (유선) 구성도</vt:lpstr>
      <vt:lpstr>3. IMS 및 스카다확장장치 (유/무선) 구성도</vt:lpstr>
      <vt:lpstr>- 통합관제시스템 (IMS) 구성도</vt:lpstr>
      <vt:lpstr>- 통합수신기 vs 통합관제시스템(IMS) 비교</vt:lpstr>
      <vt:lpstr>4. 화재수신기 화면 구성 - 감시화면</vt:lpstr>
      <vt:lpstr>- 화재발생시 화면</vt:lpstr>
      <vt:lpstr>감사합니다</vt:lpstr>
    </vt:vector>
  </TitlesOfParts>
  <Company>(주) 예스폼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예스폼 템플릿</dc:title>
  <dc:creator>문서서식 예스폼(www.yesform.com) 김다혜</dc:creator>
  <cp:keywords>www.yesform.com</cp:keywords>
  <dc:description>본 문서의 저작권은 예스폼(yesform)에 있으며
무단 복제 배포시 법적인 제재를 받을 수 있습니다.</dc:description>
  <cp:lastModifiedBy>Kim Andrew</cp:lastModifiedBy>
  <cp:revision>1470</cp:revision>
  <cp:lastPrinted>2022-09-22T22:58:02Z</cp:lastPrinted>
  <dcterms:created xsi:type="dcterms:W3CDTF">2010-02-01T08:03:16Z</dcterms:created>
  <dcterms:modified xsi:type="dcterms:W3CDTF">2026-07-07T09:37:13Z</dcterms:modified>
</cp:coreProperties>
</file>